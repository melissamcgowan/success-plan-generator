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1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Adoption</c:v>
                </c:pt>
              </c:strCache>
            </c:strRef>
          </c:tx>
          <c:spPr>
            <a:solidFill>
              <a:srgbClr val="1E2761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222222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Embedded Dashboards</c:v>
                  </c:pt>
                  <c:pt idx="1">
                    <c:v>Data Pipeline Connectors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83</c:v>
                </c:pt>
                <c:pt idx="1">
                  <c:v>95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222222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44444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</c:scaling>
        <c:delete val="0"/>
        <c:axPos val="b"/>
        <c:majorGridlines>
          <c:spPr>
            <a:ln w="12700" cap="flat">
              <a:solidFill>
                <a:srgbClr val="E9ECF5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r>
                  <a:rPr b="0" i="0" u="none" strike="noStrike">
                    <a:solidFill>
                      <a:srgbClr val="000000"/>
                    </a:solidFill>
                    <a:latin typeface="Arial"/>
                  </a:rPr>
                  <a:t>Adoption %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44444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B4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41B49"/>
          </a:solidFill>
          <a:ln/>
        </p:spPr>
      </p:sp>
      <p:sp>
        <p:nvSpPr>
          <p:cNvPr id="3" name="Shape 1"/>
          <p:cNvSpPr/>
          <p:nvPr/>
        </p:nvSpPr>
        <p:spPr>
          <a:xfrm>
            <a:off x="8869680" y="-2011680"/>
            <a:ext cx="5486400" cy="5486400"/>
          </a:xfrm>
          <a:prstGeom prst="ellipse">
            <a:avLst/>
          </a:prstGeom>
          <a:solidFill>
            <a:srgbClr val="1E2761">
              <a:alpha val="6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0241280" y="3291840"/>
            <a:ext cx="3657600" cy="3657600"/>
          </a:xfrm>
          <a:prstGeom prst="ellipse">
            <a:avLst/>
          </a:prstGeom>
          <a:solidFill>
            <a:srgbClr val="CADCFC">
              <a:alpha val="12000"/>
            </a:srgbClr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22960" y="19659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SUCCESS PLAN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331720"/>
            <a:ext cx="9601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Foundry Analytics</a:t>
            </a:r>
            <a:endParaRPr lang="en-US" sz="44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333756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/ SaaS  •  Enterprise Segment  •  CSM: M. McGowan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822960" y="4297680"/>
            <a:ext cx="3017520" cy="1188720"/>
          </a:xfrm>
          <a:prstGeom prst="rect">
            <a:avLst/>
          </a:prstGeom>
          <a:solidFill>
            <a:srgbClr val="FFFFFF">
              <a:alpha val="8000"/>
            </a:srgbClr>
          </a:solidFill>
          <a:ln w="9525">
            <a:solidFill>
              <a:srgbClr val="CADCFC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1005840" y="4434840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$221,000</a:t>
            </a:r>
            <a:endParaRPr lang="en-US" sz="2400" dirty="0"/>
          </a:p>
        </p:txBody>
      </p:sp>
      <p:sp>
        <p:nvSpPr>
          <p:cNvPr id="10" name="Text 8"/>
          <p:cNvSpPr txBox="1"/>
          <p:nvPr/>
        </p:nvSpPr>
        <p:spPr>
          <a:xfrm>
            <a:off x="1005840" y="498348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1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069080" y="4297680"/>
            <a:ext cx="3017520" cy="1188720"/>
          </a:xfrm>
          <a:prstGeom prst="rect">
            <a:avLst/>
          </a:prstGeom>
          <a:solidFill>
            <a:srgbClr val="FFFFFF">
              <a:alpha val="8000"/>
            </a:srgbClr>
          </a:solidFill>
          <a:ln w="9525">
            <a:solidFill>
              <a:srgbClr val="CADCFC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251960" y="4434840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88 / 100</a:t>
            </a:r>
            <a:endParaRPr lang="en-US" sz="2400" dirty="0"/>
          </a:p>
        </p:txBody>
      </p:sp>
      <p:sp>
        <p:nvSpPr>
          <p:cNvPr id="13" name="Text 11"/>
          <p:cNvSpPr txBox="1"/>
          <p:nvPr/>
        </p:nvSpPr>
        <p:spPr>
          <a:xfrm>
            <a:off x="4251960" y="498348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1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 SCORE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7315200" y="4297680"/>
            <a:ext cx="3017520" cy="1188720"/>
          </a:xfrm>
          <a:prstGeom prst="rect">
            <a:avLst/>
          </a:prstGeom>
          <a:solidFill>
            <a:srgbClr val="FFFFFF">
              <a:alpha val="8000"/>
            </a:srgbClr>
          </a:solidFill>
          <a:ln w="9525">
            <a:solidFill>
              <a:srgbClr val="CADCFC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7498080" y="4434840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May 1, 2027</a:t>
            </a:r>
            <a:endParaRPr lang="en-US" sz="2400" dirty="0"/>
          </a:p>
        </p:txBody>
      </p:sp>
      <p:sp>
        <p:nvSpPr>
          <p:cNvPr id="16" name="Text 14"/>
          <p:cNvSpPr txBox="1"/>
          <p:nvPr/>
        </p:nvSpPr>
        <p:spPr>
          <a:xfrm>
            <a:off x="7498080" y="498348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1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RENEWAL DATE</a:t>
            </a:r>
            <a:endParaRPr lang="en-US" sz="1050" dirty="0"/>
          </a:p>
        </p:txBody>
      </p:sp>
      <p:sp>
        <p:nvSpPr>
          <p:cNvPr id="17" name="Text 15"/>
          <p:cNvSpPr txBox="1"/>
          <p:nvPr/>
        </p:nvSpPr>
        <p:spPr>
          <a:xfrm>
            <a:off x="822960" y="626364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8C9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September 11, 2026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Executive Summary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554480"/>
            <a:ext cx="2011680" cy="2011680"/>
          </a:xfrm>
          <a:prstGeom prst="ellipse">
            <a:avLst/>
          </a:prstGeom>
          <a:solidFill>
            <a:srgbClr val="F5F7FC"/>
          </a:solidFill>
          <a:ln w="76200">
            <a:solidFill>
              <a:srgbClr val="1E8A5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1965960"/>
            <a:ext cx="2011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1E8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88</a:t>
            </a:r>
            <a:endParaRPr lang="en-US" sz="36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260604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 SCORE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3017520" y="1463040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Business Goals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3017520" y="1828800"/>
            <a:ext cx="42062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 self-serve analytics to 500+ internal users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7589520" y="146304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Key Milestone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7589520" y="1828800"/>
            <a:ext cx="3931920" cy="1234440"/>
          </a:xfrm>
          <a:prstGeom prst="rect">
            <a:avLst/>
          </a:prstGeom>
          <a:solidFill>
            <a:srgbClr val="F5F7FC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7772400" y="1938528"/>
            <a:ext cx="3566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rollout to all regions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7772400" y="251460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B77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Target: Sep 30, 2026  •  In Progress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548640" y="4114800"/>
            <a:ext cx="3566160" cy="1737360"/>
          </a:xfrm>
          <a:prstGeom prst="roundRect">
            <a:avLst>
              <a:gd name="adj" fmla="val 4211"/>
            </a:avLst>
          </a:prstGeom>
          <a:solidFill>
            <a:srgbClr val="F5F7FC"/>
          </a:solidFill>
          <a:ln w="12700">
            <a:solidFill>
              <a:srgbClr val="E2E6F0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77240" y="4279392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ADOPTION</a:t>
            </a:r>
            <a:endParaRPr lang="en-US" sz="1050" dirty="0"/>
          </a:p>
        </p:txBody>
      </p:sp>
      <p:sp>
        <p:nvSpPr>
          <p:cNvPr id="15" name="Text 13"/>
          <p:cNvSpPr txBox="1"/>
          <p:nvPr/>
        </p:nvSpPr>
        <p:spPr>
          <a:xfrm>
            <a:off x="777240" y="457200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340 / 500</a:t>
            </a:r>
            <a:endParaRPr lang="en-US" sz="2600" dirty="0"/>
          </a:p>
        </p:txBody>
      </p:sp>
      <p:sp>
        <p:nvSpPr>
          <p:cNvPr id="16" name="Text 14"/>
          <p:cNvSpPr txBox="1"/>
          <p:nvPr/>
        </p:nvSpPr>
        <p:spPr>
          <a:xfrm>
            <a:off x="777240" y="5138928"/>
            <a:ext cx="3200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active dashboard users (users)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4343400" y="4114800"/>
            <a:ext cx="3566160" cy="1737360"/>
          </a:xfrm>
          <a:prstGeom prst="roundRect">
            <a:avLst>
              <a:gd name="adj" fmla="val 4211"/>
            </a:avLst>
          </a:prstGeom>
          <a:solidFill>
            <a:srgbClr val="F5F7FC"/>
          </a:solidFill>
          <a:ln w="12700">
            <a:solidFill>
              <a:srgbClr val="E2E6F0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4572000" y="4279392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ONBOARDING</a:t>
            </a:r>
            <a:endParaRPr lang="en-US" sz="1050" dirty="0"/>
          </a:p>
        </p:txBody>
      </p:sp>
      <p:sp>
        <p:nvSpPr>
          <p:cNvPr id="19" name="Text 17"/>
          <p:cNvSpPr txBox="1"/>
          <p:nvPr/>
        </p:nvSpPr>
        <p:spPr>
          <a:xfrm>
            <a:off x="4572000" y="457200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21 / 21</a:t>
            </a:r>
            <a:endParaRPr lang="en-US" sz="2600" dirty="0"/>
          </a:p>
        </p:txBody>
      </p:sp>
      <p:sp>
        <p:nvSpPr>
          <p:cNvPr id="20" name="Text 18"/>
          <p:cNvSpPr txBox="1"/>
          <p:nvPr/>
        </p:nvSpPr>
        <p:spPr>
          <a:xfrm>
            <a:off x="4572000" y="5138928"/>
            <a:ext cx="3200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Time-to-first-value (days)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8138160" y="4114800"/>
            <a:ext cx="3566160" cy="1737360"/>
          </a:xfrm>
          <a:prstGeom prst="roundRect">
            <a:avLst>
              <a:gd name="adj" fmla="val 4211"/>
            </a:avLst>
          </a:prstGeom>
          <a:solidFill>
            <a:srgbClr val="F5F7FC"/>
          </a:solidFill>
          <a:ln w="12700">
            <a:solidFill>
              <a:srgbClr val="E2E6F0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8366760" y="4279392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IMPACT</a:t>
            </a:r>
            <a:endParaRPr lang="en-US" sz="1050" dirty="0"/>
          </a:p>
        </p:txBody>
      </p:sp>
      <p:sp>
        <p:nvSpPr>
          <p:cNvPr id="23" name="Text 21"/>
          <p:cNvSpPr txBox="1"/>
          <p:nvPr/>
        </p:nvSpPr>
        <p:spPr>
          <a:xfrm>
            <a:off x="8366760" y="457200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61 / 75</a:t>
            </a:r>
            <a:endParaRPr lang="en-US" sz="2600" dirty="0"/>
          </a:p>
        </p:txBody>
      </p:sp>
      <p:sp>
        <p:nvSpPr>
          <p:cNvPr id="24" name="Text 22"/>
          <p:cNvSpPr txBox="1"/>
          <p:nvPr/>
        </p:nvSpPr>
        <p:spPr>
          <a:xfrm>
            <a:off x="8366760" y="5138928"/>
            <a:ext cx="3200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Self-serve report requests deflected (%)</a:t>
            </a:r>
            <a:endParaRPr lang="en-US" sz="1050" dirty="0"/>
          </a:p>
        </p:txBody>
      </p:sp>
      <p:sp>
        <p:nvSpPr>
          <p:cNvPr id="25" name="Text 23"/>
          <p:cNvSpPr txBox="1"/>
          <p:nvPr/>
        </p:nvSpPr>
        <p:spPr>
          <a:xfrm>
            <a:off x="457200" y="649224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Foundry Analytics  |  Customer Success Plan</a:t>
            </a:r>
            <a:endParaRPr lang="en-US" sz="900" dirty="0"/>
          </a:p>
        </p:txBody>
      </p:sp>
      <p:sp>
        <p:nvSpPr>
          <p:cNvPr id="26" name="Text 24"/>
          <p:cNvSpPr txBox="1"/>
          <p:nvPr/>
        </p:nvSpPr>
        <p:spPr>
          <a:xfrm>
            <a:off x="8988552" y="64922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/ 8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TSIA COMPONENT 1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Customer Profile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4173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Stakeholders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828800"/>
            <a:ext cx="457200" cy="457200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548640" y="18288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1143000" y="182880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Grace Liu  —  Chief Data Officer</a:t>
            </a:r>
            <a:endParaRPr lang="en-US" sz="1250" dirty="0"/>
          </a:p>
        </p:txBody>
      </p:sp>
      <p:sp>
        <p:nvSpPr>
          <p:cNvPr id="8" name="Text 6"/>
          <p:cNvSpPr txBox="1"/>
          <p:nvPr/>
        </p:nvSpPr>
        <p:spPr>
          <a:xfrm>
            <a:off x="1143000" y="2075688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Economic Buyer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5074920" y="1883664"/>
            <a:ext cx="1097280" cy="329184"/>
          </a:xfrm>
          <a:prstGeom prst="roundRect">
            <a:avLst>
              <a:gd name="adj" fmla="val 16667"/>
            </a:avLst>
          </a:prstGeom>
          <a:solidFill>
            <a:srgbClr val="1E8A5F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5074920" y="1883664"/>
            <a:ext cx="1097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Champion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548640" y="2697480"/>
            <a:ext cx="457200" cy="457200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548640" y="2697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MW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1143000" y="269748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Marcus Webb  —  Head of Analytics Eng.</a:t>
            </a:r>
            <a:endParaRPr lang="en-US" sz="1250" dirty="0"/>
          </a:p>
        </p:txBody>
      </p:sp>
      <p:sp>
        <p:nvSpPr>
          <p:cNvPr id="14" name="Text 12"/>
          <p:cNvSpPr txBox="1"/>
          <p:nvPr/>
        </p:nvSpPr>
        <p:spPr>
          <a:xfrm>
            <a:off x="1143000" y="2944368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Buyer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5074920" y="2752344"/>
            <a:ext cx="1097280" cy="329184"/>
          </a:xfrm>
          <a:prstGeom prst="roundRect">
            <a:avLst>
              <a:gd name="adj" fmla="val 16667"/>
            </a:avLst>
          </a:prstGeom>
          <a:solidFill>
            <a:srgbClr val="1E8A5F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5074920" y="2752344"/>
            <a:ext cx="1097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Champion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6675120" y="1417320"/>
            <a:ext cx="18288" cy="4709160"/>
          </a:xfrm>
          <a:prstGeom prst="rect">
            <a:avLst/>
          </a:prstGeom>
          <a:solidFill>
            <a:srgbClr val="E2E6F0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7040880" y="1417320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Use Cases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7040880" y="1783080"/>
            <a:ext cx="44805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Embedded dashboards for regional ops teams  (High priority)</a:t>
            </a:r>
            <a:endParaRPr lang="en-US" sz="1250" dirty="0"/>
          </a:p>
        </p:txBody>
      </p:sp>
      <p:sp>
        <p:nvSpPr>
          <p:cNvPr id="20" name="Text 18"/>
          <p:cNvSpPr txBox="1"/>
          <p:nvPr/>
        </p:nvSpPr>
        <p:spPr>
          <a:xfrm>
            <a:off x="7040880" y="3566160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Goals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7040880" y="3931920"/>
            <a:ext cx="44805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 self-serve analytics to 500+ internal users  (High priority)</a:t>
            </a:r>
            <a:endParaRPr lang="en-US" sz="1250" dirty="0"/>
          </a:p>
        </p:txBody>
      </p:sp>
      <p:sp>
        <p:nvSpPr>
          <p:cNvPr id="22" name="Text 20"/>
          <p:cNvSpPr txBox="1"/>
          <p:nvPr/>
        </p:nvSpPr>
        <p:spPr>
          <a:xfrm>
            <a:off x="457200" y="649224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Foundry Analytics  |  Customer Success Plan</a:t>
            </a:r>
            <a:endParaRPr lang="en-US" sz="900" dirty="0"/>
          </a:p>
        </p:txBody>
      </p:sp>
      <p:sp>
        <p:nvSpPr>
          <p:cNvPr id="23" name="Text 21"/>
          <p:cNvSpPr txBox="1"/>
          <p:nvPr/>
        </p:nvSpPr>
        <p:spPr>
          <a:xfrm>
            <a:off x="8988552" y="64922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8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TSIA COMPONENT 2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Current State Assessment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417320"/>
            <a:ext cx="5760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Adoption</a:t>
            </a:r>
            <a:endParaRPr lang="en-US" sz="13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548640" y="1828800"/>
          <a:ext cx="5760720" cy="27432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3"/>
          <p:cNvSpPr/>
          <p:nvPr/>
        </p:nvSpPr>
        <p:spPr>
          <a:xfrm>
            <a:off x="6675120" y="1417320"/>
            <a:ext cx="18288" cy="4709160"/>
          </a:xfrm>
          <a:prstGeom prst="rect">
            <a:avLst/>
          </a:prstGeom>
          <a:solidFill>
            <a:srgbClr val="E2E6F0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7040880" y="1417320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Known Challenges</a:t>
            </a:r>
            <a:endParaRPr lang="en-US" sz="1300" dirty="0"/>
          </a:p>
        </p:txBody>
      </p:sp>
      <p:sp>
        <p:nvSpPr>
          <p:cNvPr id="8" name="Text 5"/>
          <p:cNvSpPr txBox="1"/>
          <p:nvPr/>
        </p:nvSpPr>
        <p:spPr>
          <a:xfrm>
            <a:off x="457200" y="649224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Foundry Analytics  |  Customer Success Plan</a:t>
            </a:r>
            <a:endParaRPr lang="en-US" sz="900" dirty="0"/>
          </a:p>
        </p:txBody>
      </p:sp>
      <p:sp>
        <p:nvSpPr>
          <p:cNvPr id="9" name="Text 6"/>
          <p:cNvSpPr txBox="1"/>
          <p:nvPr/>
        </p:nvSpPr>
        <p:spPr>
          <a:xfrm>
            <a:off x="8988552" y="64922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8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TSIA COMPONENT 3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Milestones &amp; Timeline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600200" y="3017520"/>
            <a:ext cx="9006840" cy="0"/>
          </a:xfrm>
          <a:prstGeom prst="line">
            <a:avLst/>
          </a:prstGeom>
          <a:noFill/>
          <a:ln w="38100">
            <a:solidFill>
              <a:srgbClr val="D7DCE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472184" y="2889504"/>
            <a:ext cx="256032" cy="256032"/>
          </a:xfrm>
          <a:prstGeom prst="ellipse">
            <a:avLst/>
          </a:prstGeom>
          <a:solidFill>
            <a:srgbClr val="B7791F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600200" y="2560320"/>
            <a:ext cx="0" cy="329184"/>
          </a:xfrm>
          <a:prstGeom prst="line">
            <a:avLst/>
          </a:prstGeom>
          <a:noFill/>
          <a:ln w="19050">
            <a:solidFill>
              <a:srgbClr val="D7DCEC"/>
            </a:solidFill>
            <a:prstDash val="dash"/>
          </a:ln>
        </p:spPr>
      </p:sp>
      <p:sp>
        <p:nvSpPr>
          <p:cNvPr id="7" name="Shape 5"/>
          <p:cNvSpPr/>
          <p:nvPr/>
        </p:nvSpPr>
        <p:spPr>
          <a:xfrm>
            <a:off x="548640" y="1280160"/>
            <a:ext cx="2103120" cy="1234440"/>
          </a:xfrm>
          <a:prstGeom prst="roundRect">
            <a:avLst>
              <a:gd name="adj" fmla="val 4444"/>
            </a:avLst>
          </a:prstGeom>
          <a:solidFill>
            <a:srgbClr val="F5F7FC"/>
          </a:solidFill>
          <a:ln w="12700">
            <a:solidFill>
              <a:srgbClr val="E2E6F0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85800" y="137160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ADOPTION</a:t>
            </a:r>
            <a:endParaRPr lang="en-US" sz="900" dirty="0"/>
          </a:p>
        </p:txBody>
      </p:sp>
      <p:sp>
        <p:nvSpPr>
          <p:cNvPr id="9" name="Text 7"/>
          <p:cNvSpPr txBox="1"/>
          <p:nvPr/>
        </p:nvSpPr>
        <p:spPr>
          <a:xfrm>
            <a:off x="685800" y="160020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rollout to all regions</a:t>
            </a:r>
            <a:endParaRPr lang="en-US" sz="1000" dirty="0"/>
          </a:p>
        </p:txBody>
      </p:sp>
      <p:sp>
        <p:nvSpPr>
          <p:cNvPr id="10" name="Text 8"/>
          <p:cNvSpPr txBox="1"/>
          <p:nvPr/>
        </p:nvSpPr>
        <p:spPr>
          <a:xfrm>
            <a:off x="685800" y="214884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B77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 30, 2026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5975604" y="2889504"/>
            <a:ext cx="256032" cy="256032"/>
          </a:xfrm>
          <a:prstGeom prst="ellipse">
            <a:avLst/>
          </a:prstGeom>
          <a:solidFill>
            <a:srgbClr val="6B7280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103620" y="3145536"/>
            <a:ext cx="0" cy="182880"/>
          </a:xfrm>
          <a:prstGeom prst="line">
            <a:avLst/>
          </a:prstGeom>
          <a:noFill/>
          <a:ln w="19050">
            <a:solidFill>
              <a:srgbClr val="D7DCEC"/>
            </a:solidFill>
            <a:prstDash val="dash"/>
          </a:ln>
        </p:spPr>
      </p:sp>
      <p:sp>
        <p:nvSpPr>
          <p:cNvPr id="13" name="Shape 11"/>
          <p:cNvSpPr/>
          <p:nvPr/>
        </p:nvSpPr>
        <p:spPr>
          <a:xfrm>
            <a:off x="5052060" y="3337560"/>
            <a:ext cx="2103120" cy="1234440"/>
          </a:xfrm>
          <a:prstGeom prst="roundRect">
            <a:avLst>
              <a:gd name="adj" fmla="val 4444"/>
            </a:avLst>
          </a:prstGeom>
          <a:solidFill>
            <a:srgbClr val="F5F7FC"/>
          </a:solidFill>
          <a:ln w="12700">
            <a:solidFill>
              <a:srgbClr val="E2E6F0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189220" y="342900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 REALIZATION</a:t>
            </a:r>
            <a:endParaRPr lang="en-US" sz="900" dirty="0"/>
          </a:p>
        </p:txBody>
      </p:sp>
      <p:sp>
        <p:nvSpPr>
          <p:cNvPr id="15" name="Text 13"/>
          <p:cNvSpPr txBox="1"/>
          <p:nvPr/>
        </p:nvSpPr>
        <p:spPr>
          <a:xfrm>
            <a:off x="5189220" y="365760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500-user self-serve target reached</a:t>
            </a:r>
            <a:endParaRPr lang="en-US" sz="1000" dirty="0"/>
          </a:p>
        </p:txBody>
      </p:sp>
      <p:sp>
        <p:nvSpPr>
          <p:cNvPr id="16" name="Text 14"/>
          <p:cNvSpPr txBox="1"/>
          <p:nvPr/>
        </p:nvSpPr>
        <p:spPr>
          <a:xfrm>
            <a:off x="5189220" y="420624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Feb 1, 2027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10479024" y="2889504"/>
            <a:ext cx="256032" cy="256032"/>
          </a:xfrm>
          <a:prstGeom prst="ellipse">
            <a:avLst/>
          </a:prstGeom>
          <a:solidFill>
            <a:srgbClr val="6B7280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0607040" y="2560320"/>
            <a:ext cx="0" cy="329184"/>
          </a:xfrm>
          <a:prstGeom prst="line">
            <a:avLst/>
          </a:prstGeom>
          <a:noFill/>
          <a:ln w="19050">
            <a:solidFill>
              <a:srgbClr val="D7DCEC"/>
            </a:solidFill>
            <a:prstDash val="dash"/>
          </a:ln>
        </p:spPr>
      </p:sp>
      <p:sp>
        <p:nvSpPr>
          <p:cNvPr id="19" name="Shape 17"/>
          <p:cNvSpPr/>
          <p:nvPr/>
        </p:nvSpPr>
        <p:spPr>
          <a:xfrm>
            <a:off x="9555480" y="1280160"/>
            <a:ext cx="2103120" cy="1234440"/>
          </a:xfrm>
          <a:prstGeom prst="roundRect">
            <a:avLst>
              <a:gd name="adj" fmla="val 4444"/>
            </a:avLst>
          </a:prstGeom>
          <a:solidFill>
            <a:srgbClr val="F5F7FC"/>
          </a:solidFill>
          <a:ln w="12700">
            <a:solidFill>
              <a:srgbClr val="E2E6F0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9692640" y="137160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RENEWAL</a:t>
            </a:r>
            <a:endParaRPr lang="en-US" sz="900" dirty="0"/>
          </a:p>
        </p:txBody>
      </p:sp>
      <p:sp>
        <p:nvSpPr>
          <p:cNvPr id="21" name="Text 19"/>
          <p:cNvSpPr txBox="1"/>
          <p:nvPr/>
        </p:nvSpPr>
        <p:spPr>
          <a:xfrm>
            <a:off x="9692640" y="160020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business review &amp; renewal</a:t>
            </a:r>
            <a:endParaRPr lang="en-US" sz="1000" dirty="0"/>
          </a:p>
        </p:txBody>
      </p:sp>
      <p:sp>
        <p:nvSpPr>
          <p:cNvPr id="22" name="Text 20"/>
          <p:cNvSpPr txBox="1"/>
          <p:nvPr/>
        </p:nvSpPr>
        <p:spPr>
          <a:xfrm>
            <a:off x="9692640" y="214884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 15, 2027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548640" y="6172200"/>
            <a:ext cx="164592" cy="164592"/>
          </a:xfrm>
          <a:prstGeom prst="ellipse">
            <a:avLst/>
          </a:prstGeom>
          <a:solidFill>
            <a:srgbClr val="1E8A5F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777240" y="6108192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3017520" y="6172200"/>
            <a:ext cx="164592" cy="164592"/>
          </a:xfrm>
          <a:prstGeom prst="ellipse">
            <a:avLst/>
          </a:prstGeom>
          <a:solidFill>
            <a:srgbClr val="B7791F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3246120" y="6108192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Progress / Scheduled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5486400" y="6172200"/>
            <a:ext cx="164592" cy="164592"/>
          </a:xfrm>
          <a:prstGeom prst="ellipse">
            <a:avLst/>
          </a:prstGeom>
          <a:solidFill>
            <a:srgbClr val="6B7280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5715000" y="6108192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Started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7955280" y="6172200"/>
            <a:ext cx="164592" cy="164592"/>
          </a:xfrm>
          <a:prstGeom prst="ellipse">
            <a:avLst/>
          </a:prstGeom>
          <a:solidFill>
            <a:srgbClr val="B4312F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8183880" y="6108192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Risk</a:t>
            </a:r>
            <a:endParaRPr lang="en-US" sz="1000" dirty="0"/>
          </a:p>
        </p:txBody>
      </p:sp>
      <p:sp>
        <p:nvSpPr>
          <p:cNvPr id="31" name="Text 29"/>
          <p:cNvSpPr txBox="1"/>
          <p:nvPr/>
        </p:nvSpPr>
        <p:spPr>
          <a:xfrm>
            <a:off x="457200" y="649224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Foundry Analytics  |  Customer Success Plan</a:t>
            </a:r>
            <a:endParaRPr lang="en-US" sz="900" dirty="0"/>
          </a:p>
        </p:txBody>
      </p:sp>
      <p:sp>
        <p:nvSpPr>
          <p:cNvPr id="32" name="Text 30"/>
          <p:cNvSpPr txBox="1"/>
          <p:nvPr/>
        </p:nvSpPr>
        <p:spPr>
          <a:xfrm>
            <a:off x="8988552" y="64922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8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TSIA COMPONENT 4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Success Metrics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3657600" cy="2743200"/>
          </a:xfrm>
          <a:prstGeom prst="roundRect">
            <a:avLst>
              <a:gd name="adj" fmla="val 2667"/>
            </a:avLst>
          </a:prstGeom>
          <a:solidFill>
            <a:srgbClr val="F5F7FC"/>
          </a:solidFill>
          <a:ln w="12700">
            <a:solidFill>
              <a:srgbClr val="E2E6F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173736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ADOPTION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01168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usage of the platform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228600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active dashboard users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2606040"/>
            <a:ext cx="3108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340</a:t>
            </a:r>
            <a:endParaRPr lang="en-US" sz="34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3182112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500 users target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822960" y="3547872"/>
            <a:ext cx="3108960" cy="201168"/>
          </a:xfrm>
          <a:prstGeom prst="roundRect">
            <a:avLst>
              <a:gd name="adj" fmla="val 13636"/>
            </a:avLst>
          </a:prstGeom>
          <a:solidFill>
            <a:srgbClr val="E2E6F0"/>
          </a:solidFill>
          <a:ln/>
        </p:spPr>
      </p:sp>
      <p:sp>
        <p:nvSpPr>
          <p:cNvPr id="11" name="Shape 9"/>
          <p:cNvSpPr/>
          <p:nvPr/>
        </p:nvSpPr>
        <p:spPr>
          <a:xfrm>
            <a:off x="822960" y="3547872"/>
            <a:ext cx="2114093" cy="201168"/>
          </a:xfrm>
          <a:prstGeom prst="roundRect">
            <a:avLst>
              <a:gd name="adj" fmla="val 13636"/>
            </a:avLst>
          </a:prstGeom>
          <a:solidFill>
            <a:srgbClr val="B7791F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822960" y="379476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68% of target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4434840" y="1508760"/>
            <a:ext cx="3657600" cy="2743200"/>
          </a:xfrm>
          <a:prstGeom prst="roundRect">
            <a:avLst>
              <a:gd name="adj" fmla="val 2667"/>
            </a:avLst>
          </a:prstGeom>
          <a:solidFill>
            <a:srgbClr val="F5F7FC"/>
          </a:solidFill>
          <a:ln w="12700">
            <a:solidFill>
              <a:srgbClr val="E2E6F0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709160" y="173736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ONBOARDING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4709160" y="201168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Speed to first value</a:t>
            </a:r>
            <a:endParaRPr lang="en-US" sz="1000" dirty="0"/>
          </a:p>
        </p:txBody>
      </p:sp>
      <p:sp>
        <p:nvSpPr>
          <p:cNvPr id="16" name="Text 14"/>
          <p:cNvSpPr txBox="1"/>
          <p:nvPr/>
        </p:nvSpPr>
        <p:spPr>
          <a:xfrm>
            <a:off x="4709160" y="228600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Time-to-first-value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4709160" y="2606040"/>
            <a:ext cx="3108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21</a:t>
            </a:r>
            <a:endParaRPr lang="en-US" sz="3400" dirty="0"/>
          </a:p>
        </p:txBody>
      </p:sp>
      <p:sp>
        <p:nvSpPr>
          <p:cNvPr id="18" name="Text 16"/>
          <p:cNvSpPr txBox="1"/>
          <p:nvPr/>
        </p:nvSpPr>
        <p:spPr>
          <a:xfrm>
            <a:off x="4709160" y="3182112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21 days target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4709160" y="3547872"/>
            <a:ext cx="3108960" cy="201168"/>
          </a:xfrm>
          <a:prstGeom prst="roundRect">
            <a:avLst>
              <a:gd name="adj" fmla="val 13636"/>
            </a:avLst>
          </a:prstGeom>
          <a:solidFill>
            <a:srgbClr val="E2E6F0"/>
          </a:solidFill>
          <a:ln/>
        </p:spPr>
      </p:sp>
      <p:sp>
        <p:nvSpPr>
          <p:cNvPr id="20" name="Shape 18"/>
          <p:cNvSpPr/>
          <p:nvPr/>
        </p:nvSpPr>
        <p:spPr>
          <a:xfrm>
            <a:off x="4709160" y="3547872"/>
            <a:ext cx="3108960" cy="201168"/>
          </a:xfrm>
          <a:prstGeom prst="roundRect">
            <a:avLst>
              <a:gd name="adj" fmla="val 13636"/>
            </a:avLst>
          </a:prstGeom>
          <a:solidFill>
            <a:srgbClr val="1E8A5F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4709160" y="379476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 of target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8321040" y="1508760"/>
            <a:ext cx="3657600" cy="2743200"/>
          </a:xfrm>
          <a:prstGeom prst="roundRect">
            <a:avLst>
              <a:gd name="adj" fmla="val 2667"/>
            </a:avLst>
          </a:prstGeom>
          <a:solidFill>
            <a:srgbClr val="F5F7FC"/>
          </a:solidFill>
          <a:ln w="12700">
            <a:solidFill>
              <a:srgbClr val="E2E6F0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8595360" y="173736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IMPACT</a:t>
            </a:r>
            <a:endParaRPr lang="en-US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8595360" y="201168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Outcomes tied to ROI</a:t>
            </a:r>
            <a:endParaRPr lang="en-US" sz="1000" dirty="0"/>
          </a:p>
        </p:txBody>
      </p:sp>
      <p:sp>
        <p:nvSpPr>
          <p:cNvPr id="25" name="Text 23"/>
          <p:cNvSpPr txBox="1"/>
          <p:nvPr/>
        </p:nvSpPr>
        <p:spPr>
          <a:xfrm>
            <a:off x="8595360" y="228600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Self-serve report requests deflected</a:t>
            </a:r>
            <a:endParaRPr lang="en-US" sz="1200" dirty="0"/>
          </a:p>
        </p:txBody>
      </p:sp>
      <p:sp>
        <p:nvSpPr>
          <p:cNvPr id="26" name="Text 24"/>
          <p:cNvSpPr txBox="1"/>
          <p:nvPr/>
        </p:nvSpPr>
        <p:spPr>
          <a:xfrm>
            <a:off x="8595360" y="2606040"/>
            <a:ext cx="3108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61</a:t>
            </a:r>
            <a:endParaRPr lang="en-US" sz="3400" dirty="0"/>
          </a:p>
        </p:txBody>
      </p:sp>
      <p:sp>
        <p:nvSpPr>
          <p:cNvPr id="27" name="Text 25"/>
          <p:cNvSpPr txBox="1"/>
          <p:nvPr/>
        </p:nvSpPr>
        <p:spPr>
          <a:xfrm>
            <a:off x="8595360" y="3182112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75 % target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8595360" y="3547872"/>
            <a:ext cx="3108960" cy="201168"/>
          </a:xfrm>
          <a:prstGeom prst="roundRect">
            <a:avLst>
              <a:gd name="adj" fmla="val 13636"/>
            </a:avLst>
          </a:prstGeom>
          <a:solidFill>
            <a:srgbClr val="E2E6F0"/>
          </a:solidFill>
          <a:ln/>
        </p:spPr>
      </p:sp>
      <p:sp>
        <p:nvSpPr>
          <p:cNvPr id="29" name="Shape 27"/>
          <p:cNvSpPr/>
          <p:nvPr/>
        </p:nvSpPr>
        <p:spPr>
          <a:xfrm>
            <a:off x="8595360" y="3547872"/>
            <a:ext cx="2518258" cy="201168"/>
          </a:xfrm>
          <a:prstGeom prst="roundRect">
            <a:avLst>
              <a:gd name="adj" fmla="val 13636"/>
            </a:avLst>
          </a:prstGeom>
          <a:solidFill>
            <a:srgbClr val="B7791F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8595360" y="379476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81% of target</a:t>
            </a:r>
            <a:endParaRPr lang="en-US" sz="950" dirty="0"/>
          </a:p>
        </p:txBody>
      </p:sp>
      <p:sp>
        <p:nvSpPr>
          <p:cNvPr id="31" name="Text 29"/>
          <p:cNvSpPr txBox="1"/>
          <p:nvPr/>
        </p:nvSpPr>
        <p:spPr>
          <a:xfrm>
            <a:off x="548640" y="452628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 definitions follow TSIA guidance: adoption (active users / feature usage), onboarding (time-to-value, activation), and business impact (ROI, outcomes).</a:t>
            </a:r>
            <a:endParaRPr lang="en-US" sz="1050" dirty="0"/>
          </a:p>
        </p:txBody>
      </p:sp>
      <p:sp>
        <p:nvSpPr>
          <p:cNvPr id="32" name="Text 30"/>
          <p:cNvSpPr txBox="1"/>
          <p:nvPr/>
        </p:nvSpPr>
        <p:spPr>
          <a:xfrm>
            <a:off x="457200" y="649224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Foundry Analytics  |  Customer Success Plan</a:t>
            </a:r>
            <a:endParaRPr lang="en-US" sz="900" dirty="0"/>
          </a:p>
        </p:txBody>
      </p:sp>
      <p:sp>
        <p:nvSpPr>
          <p:cNvPr id="33" name="Text 31"/>
          <p:cNvSpPr txBox="1"/>
          <p:nvPr/>
        </p:nvSpPr>
        <p:spPr>
          <a:xfrm>
            <a:off x="8988552" y="64922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8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TSIA COMPONENT 5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Actions &amp; Responsibilities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5303520" cy="502920"/>
          </a:xfrm>
          <a:prstGeom prst="roundRect">
            <a:avLst>
              <a:gd name="adj" fmla="val 10909"/>
            </a:avLst>
          </a:prstGeom>
          <a:solidFill>
            <a:srgbClr val="1E2761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1417320"/>
            <a:ext cx="5303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 Team Owns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2103120"/>
            <a:ext cx="5303520" cy="914400"/>
          </a:xfrm>
          <a:prstGeom prst="roundRect">
            <a:avLst>
              <a:gd name="adj" fmla="val 6000"/>
            </a:avLst>
          </a:prstGeom>
          <a:solidFill>
            <a:srgbClr val="F5F7FC"/>
          </a:solidFill>
          <a:ln w="12700">
            <a:solidFill>
              <a:srgbClr val="E2E6F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77240" y="2194560"/>
            <a:ext cx="4846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regional enablement roadshow (3 regions remaining)</a:t>
            </a:r>
            <a:endParaRPr lang="en-US" sz="115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26974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Due Oct 31, 2026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480560" y="2670048"/>
            <a:ext cx="1188720" cy="292608"/>
          </a:xfrm>
          <a:prstGeom prst="roundRect">
            <a:avLst>
              <a:gd name="adj" fmla="val 15625"/>
            </a:avLst>
          </a:prstGeom>
          <a:solidFill>
            <a:srgbClr val="B7791F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4480560" y="2670048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Progress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6309360" y="1417320"/>
            <a:ext cx="5303520" cy="502920"/>
          </a:xfrm>
          <a:prstGeom prst="roundRect">
            <a:avLst>
              <a:gd name="adj" fmla="val 10909"/>
            </a:avLst>
          </a:prstGeom>
          <a:solidFill>
            <a:srgbClr val="44506B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309360" y="1417320"/>
            <a:ext cx="5303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Owns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309360" y="2103120"/>
            <a:ext cx="5303520" cy="914400"/>
          </a:xfrm>
          <a:prstGeom prst="roundRect">
            <a:avLst>
              <a:gd name="adj" fmla="val 6000"/>
            </a:avLst>
          </a:prstGeom>
          <a:solidFill>
            <a:srgbClr val="F5F7FC"/>
          </a:solidFill>
          <a:ln w="12700">
            <a:solidFill>
              <a:srgbClr val="E2E6F0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537960" y="2194560"/>
            <a:ext cx="4846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Nominate regional dashboard owners</a:t>
            </a:r>
            <a:endParaRPr lang="en-US" sz="1150" dirty="0"/>
          </a:p>
        </p:txBody>
      </p:sp>
      <p:sp>
        <p:nvSpPr>
          <p:cNvPr id="15" name="Text 13"/>
          <p:cNvSpPr txBox="1"/>
          <p:nvPr/>
        </p:nvSpPr>
        <p:spPr>
          <a:xfrm>
            <a:off x="6537960" y="26974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Due Sep 20, 2026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10241280" y="2670048"/>
            <a:ext cx="1188720" cy="292608"/>
          </a:xfrm>
          <a:prstGeom prst="roundRect">
            <a:avLst>
              <a:gd name="adj" fmla="val 15625"/>
            </a:avLst>
          </a:prstGeom>
          <a:solidFill>
            <a:srgbClr val="1E8A5F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10241280" y="2670048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</a:t>
            </a:r>
            <a:endParaRPr lang="en-US" sz="900" dirty="0"/>
          </a:p>
        </p:txBody>
      </p:sp>
      <p:sp>
        <p:nvSpPr>
          <p:cNvPr id="18" name="Text 16"/>
          <p:cNvSpPr txBox="1"/>
          <p:nvPr/>
        </p:nvSpPr>
        <p:spPr>
          <a:xfrm>
            <a:off x="457200" y="649224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Foundry Analytics  |  Customer Success Plan</a:t>
            </a:r>
            <a:endParaRPr lang="en-US" sz="900" dirty="0"/>
          </a:p>
        </p:txBody>
      </p:sp>
      <p:sp>
        <p:nvSpPr>
          <p:cNvPr id="19" name="Text 17"/>
          <p:cNvSpPr txBox="1"/>
          <p:nvPr/>
        </p:nvSpPr>
        <p:spPr>
          <a:xfrm>
            <a:off x="8988552" y="64922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8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TSIA COMPONENT 6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Risk Management</a:t>
            </a:r>
            <a:endParaRPr lang="en-US" sz="30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08760"/>
          <a:ext cx="11064240" cy="914400"/>
        </p:xfrm>
        <a:graphic>
          <a:graphicData uri="http://schemas.openxmlformats.org/drawingml/2006/table">
            <a:tbl>
              <a:tblPr/>
              <a:tblGrid>
                <a:gridCol w="4206240"/>
                <a:gridCol w="1371600"/>
                <a:gridCol w="1371600"/>
                <a:gridCol w="4114800"/>
              </a:tblGrid>
              <a:tr h="777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Risk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Likelihood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Impact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Mitigation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Regional rollout lagging in 3 of 6 regions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B779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Medium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E8A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Dedicated enablement roadshow, complete by end of Oct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457200" y="649224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Foundry Analytics  |  Customer Success Plan</a:t>
            </a: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8988552" y="64922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41B4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4114800"/>
            <a:ext cx="5486400" cy="5486400"/>
          </a:xfrm>
          <a:prstGeom prst="ellipse">
            <a:avLst/>
          </a:prstGeom>
          <a:solidFill>
            <a:srgbClr val="1E2761">
              <a:alpha val="60000"/>
            </a:srgbClr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22960" y="11887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STEPS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1554480"/>
            <a:ext cx="9144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Keeping the plan on track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822960" y="2560320"/>
            <a:ext cx="457200" cy="457200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22960" y="25603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41B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1463040" y="2578608"/>
            <a:ext cx="9601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regional enablement roadshow (3 regions remaining)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1463040" y="288036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AA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 Team  •  Due Oct 31, 2026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62636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8C9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by M. McGowan  •  September 11, 2026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2026-09-11T15:08:15Z</dcterms:created>
  <dcterms:modified xsi:type="dcterms:W3CDTF">2026-09-11T15:08:15Z</dcterms:modified>
</cp:coreProperties>
</file>