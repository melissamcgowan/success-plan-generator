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Adoption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222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Embedded Dashboards</c:v>
                  </c:pt>
                  <c:pt idx="1">
                    <c:v>Data Pipeline Connectors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83</c:v>
                </c:pt>
                <c:pt idx="1">
                  <c:v>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222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12700" cap="flat">
              <a:solidFill>
                <a:srgbClr val="E9EC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Adoption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B49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-2011680"/>
            <a:ext cx="5486400" cy="54864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3291840"/>
            <a:ext cx="3657600" cy="3657600"/>
          </a:xfrm>
          <a:prstGeom prst="ellipse">
            <a:avLst/>
          </a:prstGeom>
          <a:solidFill>
            <a:srgbClr val="CADCFC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SUCCESS PLAN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Foundry Analytics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37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SaaS  •  Enterprise Segment  •  CSM: M. McGowan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4297680"/>
            <a:ext cx="3017520" cy="1188720"/>
          </a:xfrm>
          <a:prstGeom prst="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4434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$221,000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983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069080" y="4297680"/>
            <a:ext cx="3017520" cy="1188720"/>
          </a:xfrm>
          <a:prstGeom prst="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51960" y="4434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 / 100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4983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SCORE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0" y="4297680"/>
            <a:ext cx="3017520" cy="1188720"/>
          </a:xfrm>
          <a:prstGeom prst="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0" y="4434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 1, 2027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4983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DATE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September 11,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011680" cy="2011680"/>
          </a:xfrm>
          <a:prstGeom prst="ellipse">
            <a:avLst/>
          </a:prstGeom>
          <a:solidFill>
            <a:srgbClr val="F5F7FC"/>
          </a:solidFill>
          <a:ln w="76200">
            <a:solidFill>
              <a:srgbClr val="1E8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65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8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SCORE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463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Business Goals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82880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self-serve analytics to 500+ internal users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589520" y="14630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Key Milestone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589520" y="1828800"/>
            <a:ext cx="3931920" cy="123444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0" y="193852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rollout to all regions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2514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Sep 30, 2026  •  In Progress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411480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279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SIMPLIFIED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 / 75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13892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report requests deflected (%)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343400" y="411480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0" y="4279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 / 400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0" y="513892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hours saved (hours/month)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138160" y="411480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66760" y="4279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REDUCTION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$50,000 / $200,000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513892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BI licensing costs avoided (per year)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Analytics  |  Customer Success Plan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Profile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Stakeholders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828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Liu  —  Chief Data Officer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0756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Buyer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74920" y="1883664"/>
            <a:ext cx="1097280" cy="329184"/>
          </a:xfrm>
          <a:prstGeom prst="roundRect">
            <a:avLst>
              <a:gd name="adj" fmla="val 16667"/>
            </a:avLst>
          </a:prstGeom>
          <a:solidFill>
            <a:srgbClr val="1E8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74920" y="188366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MW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6974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Webb  —  Head of Analytics Eng.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9443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Buyer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74920" y="2752344"/>
            <a:ext cx="1097280" cy="329184"/>
          </a:xfrm>
          <a:prstGeom prst="roundRect">
            <a:avLst>
              <a:gd name="adj" fmla="val 16667"/>
            </a:avLst>
          </a:prstGeom>
          <a:solidFill>
            <a:srgbClr val="1E8A5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74920" y="275234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675120" y="1417320"/>
            <a:ext cx="18288" cy="4709160"/>
          </a:xfrm>
          <a:prstGeom prst="rect">
            <a:avLst/>
          </a:prstGeom>
          <a:solidFill>
            <a:srgbClr val="E2E6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40880" y="14173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Use Cases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178308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dashboards for regional ops teams  (High priority)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040880" y="3566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Goals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393192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self-serve analytics to 500+ internal users  (High priority)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Analytics  |  Customer Success Plan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State Assessment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Adoption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675120" y="1417320"/>
            <a:ext cx="18288" cy="4709160"/>
          </a:xfrm>
          <a:prstGeom prst="rect">
            <a:avLst/>
          </a:prstGeom>
          <a:solidFill>
            <a:srgbClr val="E2E6F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040880" y="14173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Challenges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Analytics  |  Customer Success Plan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Milestones &amp; Timeline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600200" y="3017520"/>
            <a:ext cx="9006840" cy="0"/>
          </a:xfrm>
          <a:prstGeom prst="line">
            <a:avLst/>
          </a:prstGeom>
          <a:noFill/>
          <a:ln w="38100">
            <a:solidFill>
              <a:srgbClr val="D7DC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72184" y="2889504"/>
            <a:ext cx="256032" cy="256032"/>
          </a:xfrm>
          <a:prstGeom prst="ellipse">
            <a:avLst/>
          </a:prstGeom>
          <a:solidFill>
            <a:srgbClr val="B7791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00200" y="2560320"/>
            <a:ext cx="0" cy="329184"/>
          </a:xfrm>
          <a:prstGeom prst="line">
            <a:avLst/>
          </a:prstGeom>
          <a:noFill/>
          <a:ln w="19050">
            <a:solidFill>
              <a:srgbClr val="D7DCE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548640" y="1280160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371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600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rollout to all regions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148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30, 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75604" y="2889504"/>
            <a:ext cx="256032" cy="256032"/>
          </a:xfrm>
          <a:prstGeom prst="ellipse">
            <a:avLst/>
          </a:prstGeom>
          <a:solidFill>
            <a:srgbClr val="6B72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03620" y="3145536"/>
            <a:ext cx="0" cy="182880"/>
          </a:xfrm>
          <a:prstGeom prst="line">
            <a:avLst/>
          </a:prstGeom>
          <a:noFill/>
          <a:ln w="19050">
            <a:solidFill>
              <a:srgbClr val="D7DCEC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5052060" y="3337560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89220" y="3429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REALIZATION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189220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500-user self-serve target reached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89220" y="4206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1, 2027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0479024" y="2889504"/>
            <a:ext cx="256032" cy="256032"/>
          </a:xfrm>
          <a:prstGeom prst="ellipse">
            <a:avLst/>
          </a:prstGeom>
          <a:solidFill>
            <a:srgbClr val="6B72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607040" y="2560320"/>
            <a:ext cx="0" cy="329184"/>
          </a:xfrm>
          <a:prstGeom prst="line">
            <a:avLst/>
          </a:prstGeom>
          <a:noFill/>
          <a:ln w="19050">
            <a:solidFill>
              <a:srgbClr val="D7DCEC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9555480" y="1280160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92640" y="1371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0" y="1600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business review &amp; renewal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2148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15, 2027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6172200"/>
            <a:ext cx="164592" cy="164592"/>
          </a:xfrm>
          <a:prstGeom prst="ellipse">
            <a:avLst/>
          </a:prstGeom>
          <a:solidFill>
            <a:srgbClr val="1E8A5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77240" y="6108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17520" y="6172200"/>
            <a:ext cx="164592" cy="164592"/>
          </a:xfrm>
          <a:prstGeom prst="ellipse">
            <a:avLst/>
          </a:prstGeom>
          <a:solidFill>
            <a:srgbClr val="B7791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6120" y="6108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/ Scheduled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0" y="6172200"/>
            <a:ext cx="164592" cy="164592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715000" y="6108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55280" y="6172200"/>
            <a:ext cx="164592" cy="164592"/>
          </a:xfrm>
          <a:prstGeom prst="ellipse">
            <a:avLst/>
          </a:prstGeom>
          <a:solidFill>
            <a:srgbClr val="B431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83880" y="6108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Risk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Analytics  |  Customer Success Plan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Metrics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398520" cy="2743200"/>
          </a:xfrm>
          <a:prstGeom prst="roundRect">
            <a:avLst>
              <a:gd name="adj" fmla="val 2667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284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SIMPLIFIED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11680"/>
            <a:ext cx="284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Steps, tools, or manual work removed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report requests deflected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06040"/>
            <a:ext cx="284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82112"/>
            <a:ext cx="284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75 % target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3547872"/>
            <a:ext cx="2849880" cy="201168"/>
          </a:xfrm>
          <a:prstGeom prst="roundRect">
            <a:avLst>
              <a:gd name="adj" fmla="val 13636"/>
            </a:avLst>
          </a:prstGeom>
          <a:solidFill>
            <a:srgbClr val="E2E6F0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3547872"/>
            <a:ext cx="2308403" cy="201168"/>
          </a:xfrm>
          <a:prstGeom prst="roundRect">
            <a:avLst>
              <a:gd name="adj" fmla="val 13636"/>
            </a:avLst>
          </a:prstGeom>
          <a:solidFill>
            <a:srgbClr val="B7791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794760"/>
            <a:ext cx="284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of target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175760" y="1508760"/>
            <a:ext cx="3398520" cy="2743200"/>
          </a:xfrm>
          <a:prstGeom prst="roundRect">
            <a:avLst>
              <a:gd name="adj" fmla="val 2667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50080" y="1737360"/>
            <a:ext cx="284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50080" y="2011680"/>
            <a:ext cx="284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or cycle time given back to the customer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450080" y="2286000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hours saved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450080" y="2606040"/>
            <a:ext cx="284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4450080" y="3182112"/>
            <a:ext cx="284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400 hours/month target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50080" y="3547872"/>
            <a:ext cx="2849880" cy="201168"/>
          </a:xfrm>
          <a:prstGeom prst="roundRect">
            <a:avLst>
              <a:gd name="adj" fmla="val 13636"/>
            </a:avLst>
          </a:prstGeom>
          <a:solidFill>
            <a:srgbClr val="E2E6F0"/>
          </a:solidFill>
          <a:ln/>
        </p:spPr>
      </p:sp>
      <p:sp>
        <p:nvSpPr>
          <p:cNvPr id="20" name="Shape 18"/>
          <p:cNvSpPr/>
          <p:nvPr/>
        </p:nvSpPr>
        <p:spPr>
          <a:xfrm>
            <a:off x="4450080" y="3547872"/>
            <a:ext cx="1282446" cy="201168"/>
          </a:xfrm>
          <a:prstGeom prst="roundRect">
            <a:avLst>
              <a:gd name="adj" fmla="val 13636"/>
            </a:avLst>
          </a:prstGeom>
          <a:solidFill>
            <a:srgbClr val="B431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450080" y="3794760"/>
            <a:ext cx="284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of target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802880" y="1508760"/>
            <a:ext cx="3398520" cy="2743200"/>
          </a:xfrm>
          <a:prstGeom prst="roundRect">
            <a:avLst>
              <a:gd name="adj" fmla="val 2667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77200" y="1737360"/>
            <a:ext cx="284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REDUCTION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077200" y="2011680"/>
            <a:ext cx="284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avoided or reduced for the customer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077200" y="2286000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BI licensing costs avoided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077200" y="2606040"/>
            <a:ext cx="284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$50,000</a:t>
            </a:r>
            <a:endParaRPr 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8077200" y="3182112"/>
            <a:ext cx="284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$200,000 per year target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77200" y="3547872"/>
            <a:ext cx="2849880" cy="201168"/>
          </a:xfrm>
          <a:prstGeom prst="roundRect">
            <a:avLst>
              <a:gd name="adj" fmla="val 13636"/>
            </a:avLst>
          </a:prstGeom>
          <a:solidFill>
            <a:srgbClr val="E2E6F0"/>
          </a:solidFill>
          <a:ln/>
        </p:spPr>
      </p:sp>
      <p:sp>
        <p:nvSpPr>
          <p:cNvPr id="29" name="Shape 27"/>
          <p:cNvSpPr/>
          <p:nvPr/>
        </p:nvSpPr>
        <p:spPr>
          <a:xfrm>
            <a:off x="8077200" y="3547872"/>
            <a:ext cx="712470" cy="201168"/>
          </a:xfrm>
          <a:prstGeom prst="roundRect">
            <a:avLst>
              <a:gd name="adj" fmla="val 13636"/>
            </a:avLst>
          </a:prstGeom>
          <a:solidFill>
            <a:srgbClr val="B431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077200" y="3794760"/>
            <a:ext cx="284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of target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526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are tracked in the terms that matter to the customer: time saved, cost avoided, revenue enabled, or complexity removed from their operations.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Analytics  |  Customer Success Plan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Actions &amp; Responsibilities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03520" cy="502920"/>
          </a:xfrm>
          <a:prstGeom prst="roundRect">
            <a:avLst>
              <a:gd name="adj" fmla="val 1090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Team Owns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303520" cy="914400"/>
          </a:xfrm>
          <a:prstGeom prst="roundRect">
            <a:avLst>
              <a:gd name="adj" fmla="val 6000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1945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regional enablement roadshow (3 regions remaining)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Oct 31, 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80560" y="2670048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B779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80560" y="26700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309360" y="1417320"/>
            <a:ext cx="5303520" cy="502920"/>
          </a:xfrm>
          <a:prstGeom prst="roundRect">
            <a:avLst>
              <a:gd name="adj" fmla="val 10909"/>
            </a:avLst>
          </a:prstGeom>
          <a:solidFill>
            <a:srgbClr val="44506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09360" y="14173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Owns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2103120"/>
            <a:ext cx="5303520" cy="914400"/>
          </a:xfrm>
          <a:prstGeom prst="roundRect">
            <a:avLst>
              <a:gd name="adj" fmla="val 6000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37960" y="21945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Nominate regional dashboard owners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Sep 20, 2026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241280" y="2670048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1E8A5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241280" y="26700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Analytics  |  Customer Success Plan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Management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1371600"/>
                <a:gridCol w="41148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Likelihood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 rollout lagging in 3 of 6 regions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8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enablement roadshow, complete by end of Oct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Analytics  |  Customer Success Plan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5544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the plan on track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6032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57860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regional enablement roadshow (3 regions remaining)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Team  •  Due Oct 31, 2026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M. McGowan  •  September 11,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2026-09-11T16:23:18Z</dcterms:created>
  <dcterms:modified xsi:type="dcterms:W3CDTF">2026-09-11T16:23:18Z</dcterms:modified>
</cp:coreProperties>
</file>