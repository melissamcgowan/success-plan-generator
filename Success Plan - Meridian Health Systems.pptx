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Adoption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222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Core Scheduling</c:v>
                  </c:pt>
                  <c:pt idx="1">
                    <c:v>Automated Intake</c:v>
                  </c:pt>
                  <c:pt idx="2">
                    <c:v>Reporting Suite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61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222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12700" cap="flat">
              <a:solidFill>
                <a:srgbClr val="E9EC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Adoption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B49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-2011680"/>
            <a:ext cx="5486400" cy="54864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3291840"/>
            <a:ext cx="3657600" cy="3657600"/>
          </a:xfrm>
          <a:prstGeom prst="ellipse">
            <a:avLst/>
          </a:prstGeom>
          <a:solidFill>
            <a:srgbClr val="CADCFC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SUCCESS PLAN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Meridian Health Systems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37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Tech  •  Enterprise Segment  •  CSM: M. McGowan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4297680"/>
            <a:ext cx="3017520" cy="1188720"/>
          </a:xfrm>
          <a:prstGeom prst="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4434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$186,000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983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069080" y="4297680"/>
            <a:ext cx="3017520" cy="1188720"/>
          </a:xfrm>
          <a:prstGeom prst="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51960" y="4434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 / 100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4983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SCORE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0" y="4297680"/>
            <a:ext cx="3017520" cy="1188720"/>
          </a:xfrm>
          <a:prstGeom prst="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0" y="4434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Feb 15, 2027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4983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DATE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September 11,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011680" cy="2011680"/>
          </a:xfrm>
          <a:prstGeom prst="ellipse">
            <a:avLst/>
          </a:prstGeom>
          <a:solidFill>
            <a:srgbClr val="F5F7FC"/>
          </a:solidFill>
          <a:ln w="76200">
            <a:solidFill>
              <a:srgbClr val="1E8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65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8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SCORE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463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Business Goals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82880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patient onboarding time by 30% this fiscal year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3 legacy scheduling tools onto one platform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589520" y="14630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Key Milestone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589520" y="1828800"/>
            <a:ext cx="3931920" cy="123444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0" y="193852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intake rollout to all clinics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0" y="2514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Oct 15, 2026  •  In Progress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411480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279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/ 30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13892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onboarding time reduction (% reduction)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343400" y="411480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0" y="4279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SIMPLIFIED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/ 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0" y="513892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scheduling tools consolidated (tools)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138160" y="411480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66760" y="42793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REDUCTION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$42,000 / $75,000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513892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Administrative cost savings (per year)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Health Systems  |  Customer Success Plan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Profile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Stakeholders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828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 Reyes  —  VP, Clinical Operations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0756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Buyer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74920" y="1883664"/>
            <a:ext cx="1097280" cy="329184"/>
          </a:xfrm>
          <a:prstGeom prst="roundRect">
            <a:avLst>
              <a:gd name="adj" fmla="val 16667"/>
            </a:avLst>
          </a:prstGeom>
          <a:solidFill>
            <a:srgbClr val="1E8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74920" y="188366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6974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Okafor  —  Director, IT Integrations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9443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Buyer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74920" y="2752344"/>
            <a:ext cx="1097280" cy="329184"/>
          </a:xfrm>
          <a:prstGeom prst="roundRect">
            <a:avLst>
              <a:gd name="adj" fmla="val 16667"/>
            </a:avLst>
          </a:prstGeom>
          <a:solidFill>
            <a:srgbClr val="B779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74920" y="275234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356616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5661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 Nair  —  Care Coordination Lead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38130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74920" y="3621024"/>
            <a:ext cx="1097280" cy="329184"/>
          </a:xfrm>
          <a:prstGeom prst="roundRect">
            <a:avLst>
              <a:gd name="adj" fmla="val 16667"/>
            </a:avLst>
          </a:prstGeom>
          <a:solidFill>
            <a:srgbClr val="1E8A5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74920" y="362102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675120" y="1417320"/>
            <a:ext cx="18288" cy="4709160"/>
          </a:xfrm>
          <a:prstGeom prst="rect">
            <a:avLst/>
          </a:prstGeom>
          <a:solidFill>
            <a:srgbClr val="E2E6F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040880" y="14173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Use Cases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178308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intake and eligibility verification  (High priority)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team task routing and escalation  (Medium priority)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3566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Goals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93192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patient onboarding time by 30% this fiscal year  (High priority)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3 legacy scheduling tools onto one platform  (Medium priority)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Health Systems  |  Customer Success Plan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State Assessment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Adoption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675120" y="1417320"/>
            <a:ext cx="18288" cy="4709160"/>
          </a:xfrm>
          <a:prstGeom prst="rect">
            <a:avLst/>
          </a:prstGeom>
          <a:solidFill>
            <a:srgbClr val="E2E6F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040880" y="14173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Challenges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040880" y="1828800"/>
            <a:ext cx="4480560" cy="1051560"/>
          </a:xfrm>
          <a:prstGeom prst="roundRect">
            <a:avLst>
              <a:gd name="adj" fmla="val 5217"/>
            </a:avLst>
          </a:prstGeom>
          <a:solidFill>
            <a:srgbClr val="F5F7FC"/>
          </a:solidFill>
          <a:ln/>
        </p:spPr>
      </p:sp>
      <p:sp>
        <p:nvSpPr>
          <p:cNvPr id="9" name="Shape 6"/>
          <p:cNvSpPr/>
          <p:nvPr/>
        </p:nvSpPr>
        <p:spPr>
          <a:xfrm>
            <a:off x="7178040" y="1947672"/>
            <a:ext cx="822960" cy="292608"/>
          </a:xfrm>
          <a:prstGeom prst="roundRect">
            <a:avLst>
              <a:gd name="adj" fmla="val 15625"/>
            </a:avLst>
          </a:prstGeom>
          <a:solidFill>
            <a:srgbClr val="B7791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178040" y="19476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Intake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230428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awareness among newer front-desk staff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040880" y="3035808"/>
            <a:ext cx="4480560" cy="1051560"/>
          </a:xfrm>
          <a:prstGeom prst="roundRect">
            <a:avLst>
              <a:gd name="adj" fmla="val 5217"/>
            </a:avLst>
          </a:prstGeom>
          <a:solidFill>
            <a:srgbClr val="F5F7FC"/>
          </a:solidFill>
          <a:ln/>
        </p:spPr>
      </p:sp>
      <p:sp>
        <p:nvSpPr>
          <p:cNvPr id="14" name="Shape 11"/>
          <p:cNvSpPr/>
          <p:nvPr/>
        </p:nvSpPr>
        <p:spPr>
          <a:xfrm>
            <a:off x="7178040" y="3154680"/>
            <a:ext cx="822960" cy="292608"/>
          </a:xfrm>
          <a:prstGeom prst="roundRect">
            <a:avLst>
              <a:gd name="adj" fmla="val 15625"/>
            </a:avLst>
          </a:prstGeom>
          <a:solidFill>
            <a:srgbClr val="B7791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178040" y="31546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31272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Suite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178040" y="351129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viewed as too generic for clinical leads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Health Systems  |  Customer Success Plan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Milestones &amp; Timeline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600200" y="3017520"/>
            <a:ext cx="9006840" cy="0"/>
          </a:xfrm>
          <a:prstGeom prst="line">
            <a:avLst/>
          </a:prstGeom>
          <a:noFill/>
          <a:ln w="38100">
            <a:solidFill>
              <a:srgbClr val="D7DC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72184" y="2889504"/>
            <a:ext cx="256032" cy="256032"/>
          </a:xfrm>
          <a:prstGeom prst="ellipse">
            <a:avLst/>
          </a:prstGeom>
          <a:solidFill>
            <a:srgbClr val="1E8A5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00200" y="2560320"/>
            <a:ext cx="0" cy="329184"/>
          </a:xfrm>
          <a:prstGeom prst="line">
            <a:avLst/>
          </a:prstGeom>
          <a:noFill/>
          <a:ln w="19050">
            <a:solidFill>
              <a:srgbClr val="D7DCE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548640" y="1280160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371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600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platform go-live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148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8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1, 2025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474464" y="2889504"/>
            <a:ext cx="256032" cy="256032"/>
          </a:xfrm>
          <a:prstGeom prst="ellipse">
            <a:avLst/>
          </a:prstGeom>
          <a:solidFill>
            <a:srgbClr val="B7791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02480" y="3145536"/>
            <a:ext cx="0" cy="182880"/>
          </a:xfrm>
          <a:prstGeom prst="line">
            <a:avLst/>
          </a:prstGeom>
          <a:noFill/>
          <a:ln w="19050">
            <a:solidFill>
              <a:srgbClr val="D7DCEC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550920" y="3337560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88080" y="3429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688080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intake rollout to all clinics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688080" y="4206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15, 2026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76744" y="2889504"/>
            <a:ext cx="256032" cy="256032"/>
          </a:xfrm>
          <a:prstGeom prst="ellipse">
            <a:avLst/>
          </a:prstGeom>
          <a:solidFill>
            <a:srgbClr val="6B72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04760" y="2560320"/>
            <a:ext cx="0" cy="329184"/>
          </a:xfrm>
          <a:prstGeom prst="line">
            <a:avLst/>
          </a:prstGeom>
          <a:noFill/>
          <a:ln w="19050">
            <a:solidFill>
              <a:srgbClr val="D7DCEC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553200" y="1280160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90360" y="13716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REALIZATION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690360" y="1600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onboarding-time reduction validated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690360" y="2148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15, 2027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479024" y="2889504"/>
            <a:ext cx="256032" cy="256032"/>
          </a:xfrm>
          <a:prstGeom prst="ellipse">
            <a:avLst/>
          </a:prstGeom>
          <a:solidFill>
            <a:srgbClr val="6B72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607040" y="3145536"/>
            <a:ext cx="0" cy="182880"/>
          </a:xfrm>
          <a:prstGeom prst="line">
            <a:avLst/>
          </a:prstGeom>
          <a:noFill/>
          <a:ln w="19050">
            <a:solidFill>
              <a:srgbClr val="D7DCEC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9555480" y="3337560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92640" y="3429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business review &amp; renewal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4206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30, 2027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" y="6172200"/>
            <a:ext cx="164592" cy="164592"/>
          </a:xfrm>
          <a:prstGeom prst="ellipse">
            <a:avLst/>
          </a:prstGeom>
          <a:solidFill>
            <a:srgbClr val="1E8A5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6108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17520" y="6172200"/>
            <a:ext cx="164592" cy="164592"/>
          </a:xfrm>
          <a:prstGeom prst="ellipse">
            <a:avLst/>
          </a:prstGeom>
          <a:solidFill>
            <a:srgbClr val="B7791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246120" y="6108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/ Scheduled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0" y="6172200"/>
            <a:ext cx="164592" cy="164592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715000" y="6108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955280" y="6172200"/>
            <a:ext cx="164592" cy="164592"/>
          </a:xfrm>
          <a:prstGeom prst="ellipse">
            <a:avLst/>
          </a:prstGeom>
          <a:solidFill>
            <a:srgbClr val="B4312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183880" y="6108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Risk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Health Systems  |  Customer Success Plan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Metrics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398520" cy="2743200"/>
          </a:xfrm>
          <a:prstGeom prst="roundRect">
            <a:avLst>
              <a:gd name="adj" fmla="val 2667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284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11680"/>
            <a:ext cx="284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or cycle time given back to the customer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onboarding time reduction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06040"/>
            <a:ext cx="284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82112"/>
            <a:ext cx="284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30 % reduction target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3547872"/>
            <a:ext cx="2849880" cy="201168"/>
          </a:xfrm>
          <a:prstGeom prst="roundRect">
            <a:avLst>
              <a:gd name="adj" fmla="val 13636"/>
            </a:avLst>
          </a:prstGeom>
          <a:solidFill>
            <a:srgbClr val="E2E6F0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3547872"/>
            <a:ext cx="1339444" cy="201168"/>
          </a:xfrm>
          <a:prstGeom prst="roundRect">
            <a:avLst>
              <a:gd name="adj" fmla="val 13636"/>
            </a:avLst>
          </a:prstGeom>
          <a:solidFill>
            <a:srgbClr val="B4312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794760"/>
            <a:ext cx="284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 of target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175760" y="1508760"/>
            <a:ext cx="3398520" cy="2743200"/>
          </a:xfrm>
          <a:prstGeom prst="roundRect">
            <a:avLst>
              <a:gd name="adj" fmla="val 2667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50080" y="1737360"/>
            <a:ext cx="284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SIMPLIFIED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50080" y="2011680"/>
            <a:ext cx="284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Steps, tools, or manual work removed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450080" y="2286000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scheduling tools consolidated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450080" y="2606040"/>
            <a:ext cx="284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4450080" y="3182112"/>
            <a:ext cx="284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3 tools target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450080" y="3547872"/>
            <a:ext cx="2849880" cy="201168"/>
          </a:xfrm>
          <a:prstGeom prst="roundRect">
            <a:avLst>
              <a:gd name="adj" fmla="val 13636"/>
            </a:avLst>
          </a:prstGeom>
          <a:solidFill>
            <a:srgbClr val="E2E6F0"/>
          </a:solidFill>
          <a:ln/>
        </p:spPr>
      </p:sp>
      <p:sp>
        <p:nvSpPr>
          <p:cNvPr id="20" name="Shape 18"/>
          <p:cNvSpPr/>
          <p:nvPr/>
        </p:nvSpPr>
        <p:spPr>
          <a:xfrm>
            <a:off x="4450080" y="3547872"/>
            <a:ext cx="940460" cy="201168"/>
          </a:xfrm>
          <a:prstGeom prst="roundRect">
            <a:avLst>
              <a:gd name="adj" fmla="val 13636"/>
            </a:avLst>
          </a:prstGeom>
          <a:solidFill>
            <a:srgbClr val="B431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450080" y="3794760"/>
            <a:ext cx="284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target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802880" y="1508760"/>
            <a:ext cx="3398520" cy="2743200"/>
          </a:xfrm>
          <a:prstGeom prst="roundRect">
            <a:avLst>
              <a:gd name="adj" fmla="val 2667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77200" y="1737360"/>
            <a:ext cx="284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REDUCTION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077200" y="2011680"/>
            <a:ext cx="284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avoided or reduced for the customer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077200" y="2286000"/>
            <a:ext cx="284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Administrative cost savings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077200" y="2606040"/>
            <a:ext cx="284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$42,000</a:t>
            </a:r>
            <a:endParaRPr 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8077200" y="3182112"/>
            <a:ext cx="284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$75,000 per year target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77200" y="3547872"/>
            <a:ext cx="2849880" cy="201168"/>
          </a:xfrm>
          <a:prstGeom prst="roundRect">
            <a:avLst>
              <a:gd name="adj" fmla="val 13636"/>
            </a:avLst>
          </a:prstGeom>
          <a:solidFill>
            <a:srgbClr val="E2E6F0"/>
          </a:solidFill>
          <a:ln/>
        </p:spPr>
      </p:sp>
      <p:sp>
        <p:nvSpPr>
          <p:cNvPr id="29" name="Shape 27"/>
          <p:cNvSpPr/>
          <p:nvPr/>
        </p:nvSpPr>
        <p:spPr>
          <a:xfrm>
            <a:off x="8077200" y="3547872"/>
            <a:ext cx="1595933" cy="201168"/>
          </a:xfrm>
          <a:prstGeom prst="roundRect">
            <a:avLst>
              <a:gd name="adj" fmla="val 13636"/>
            </a:avLst>
          </a:prstGeom>
          <a:solidFill>
            <a:srgbClr val="B431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077200" y="3794760"/>
            <a:ext cx="284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target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526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are tracked in the terms that matter to the customer: time saved, cost avoided, revenue enabled, or complexity removed from their operations.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Health Systems  |  Customer Success Plan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Actions &amp; Responsibilities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03520" cy="502920"/>
          </a:xfrm>
          <a:prstGeom prst="roundRect">
            <a:avLst>
              <a:gd name="adj" fmla="val 1090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Team Owns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303520" cy="914400"/>
          </a:xfrm>
          <a:prstGeom prst="roundRect">
            <a:avLst>
              <a:gd name="adj" fmla="val 6000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1945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clinic-specific adoption enablement session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Oct 1, 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80560" y="2670048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B779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80560" y="26700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3182112"/>
            <a:ext cx="5303520" cy="914400"/>
          </a:xfrm>
          <a:prstGeom prst="roundRect">
            <a:avLst>
              <a:gd name="adj" fmla="val 6000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2735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custom report views for clinical leads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776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Oct 20, 2026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80560" y="374904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B779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480560" y="37490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309360" y="1417320"/>
            <a:ext cx="5303520" cy="502920"/>
          </a:xfrm>
          <a:prstGeom prst="roundRect">
            <a:avLst>
              <a:gd name="adj" fmla="val 10909"/>
            </a:avLst>
          </a:prstGeom>
          <a:solidFill>
            <a:srgbClr val="44506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09360" y="14173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Owns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309360" y="2103120"/>
            <a:ext cx="5303520" cy="914400"/>
          </a:xfrm>
          <a:prstGeom prst="roundRect">
            <a:avLst>
              <a:gd name="adj" fmla="val 6000"/>
            </a:avLst>
          </a:prstGeom>
          <a:solidFill>
            <a:srgbClr val="F5F7FC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37960" y="21945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clinic champions for intake rollout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Sep 25, 2026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241280" y="2670048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B7791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241280" y="26700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Health Systems  |  Customer Success Plan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4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Management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1371600"/>
                <a:gridCol w="41148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Likelihood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Reporting suite seen as low-value by clinical leadership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 custom clinical-lead views; demo in next EBR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6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Meridian Health Systems  |  Customer Success Plan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8988552" y="6492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5544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the plan on track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56032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57860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clinic-specific adoption enablement session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88036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Team  •  Due Oct 1, 2026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333756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558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clinic champions for intake rollout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6576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 •  Due Sep 25, 2026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411480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13308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custom report views for clinical leads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43484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Team  •  Due Oct 20, 2026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M. McGowan  •  September 11,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2026-09-11T16:23:17Z</dcterms:created>
  <dcterms:modified xsi:type="dcterms:W3CDTF">2026-09-11T16:23:17Z</dcterms:modified>
</cp:coreProperties>
</file>