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Core Scheduling</c:v>
                  </c:pt>
                  <c:pt idx="1">
                    <c:v>Automated Intake</c:v>
                  </c:pt>
                  <c:pt idx="2">
                    <c:v>Reporting Suite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61</c:v>
                </c:pt>
                <c:pt idx="2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9EC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Adoption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PLAN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 Health Systems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Tech  •  Enterprise Segment  •  CSM: M. McGowan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301752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$186,000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69080" y="4297680"/>
            <a:ext cx="301752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5196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 / 100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0" y="4297680"/>
            <a:ext cx="301752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 15, 2027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DATE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September 11,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11680" cy="2011680"/>
          </a:xfrm>
          <a:prstGeom prst="ellipse">
            <a:avLst/>
          </a:prstGeom>
          <a:solidFill>
            <a:srgbClr val="F5F7FC"/>
          </a:solidFill>
          <a:ln w="76200">
            <a:solidFill>
              <a:srgbClr val="1E8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Business Goals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8288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patient onboarding time by 30% this fiscal year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3 legacy scheduling tools onto one platform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Key Milestone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1828800"/>
            <a:ext cx="3931920" cy="123444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0" y="19385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intake rollout to all clinics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Oct 15, 2026  •  In Progress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 / 900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1389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clinical users (users)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41148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/ 30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51389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Time-to-first-value (days)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38160" y="41148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30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51389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onboarding time reduction (% reduction)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Health Systems  |  Customer Success Plan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TSIA COMPONENT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Profile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Reyes  —  VP, Clinical Operations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75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74920" y="1883664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1E8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74920" y="18836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Okafor  —  Director, IT Integrations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44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Buyer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2752344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74920" y="2752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Nair  —  Care Coordination Lead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813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3621024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1E8A5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74920" y="36210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75120" y="1417320"/>
            <a:ext cx="18288" cy="4709160"/>
          </a:xfrm>
          <a:prstGeom prst="rect">
            <a:avLst/>
          </a:prstGeom>
          <a:solidFill>
            <a:srgbClr val="E2E6F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40880" y="1417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178308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intake and eligibility verification  (High priority)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team task routing and escalation  (Medium priority)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93192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patient onboarding time by 30% this fiscal year  (High priority)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3 legacy scheduling tools onto one platform  (Medium priority)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Health Systems  |  Customer Success Plan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TSIA COMPONENT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Assessment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Adoption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760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417320"/>
            <a:ext cx="18288" cy="4709160"/>
          </a:xfrm>
          <a:prstGeom prst="rect">
            <a:avLst/>
          </a:prstGeom>
          <a:solidFill>
            <a:srgbClr val="E2E6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040880" y="1417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Challenges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40880" y="1828800"/>
            <a:ext cx="4480560" cy="1051560"/>
          </a:xfrm>
          <a:prstGeom prst="roundRect">
            <a:avLst>
              <a:gd name="adj" fmla="val 5217"/>
            </a:avLst>
          </a:prstGeom>
          <a:solidFill>
            <a:srgbClr val="F5F7FC"/>
          </a:solidFill>
          <a:ln/>
        </p:spPr>
      </p:sp>
      <p:sp>
        <p:nvSpPr>
          <p:cNvPr id="9" name="Shape 6"/>
          <p:cNvSpPr/>
          <p:nvPr/>
        </p:nvSpPr>
        <p:spPr>
          <a:xfrm>
            <a:off x="7178040" y="1947672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B7791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78040" y="19476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Intake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23042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awareness among newer front-desk staff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40880" y="3035808"/>
            <a:ext cx="4480560" cy="1051560"/>
          </a:xfrm>
          <a:prstGeom prst="roundRect">
            <a:avLst>
              <a:gd name="adj" fmla="val 5217"/>
            </a:avLst>
          </a:prstGeom>
          <a:solidFill>
            <a:srgbClr val="F5F7FC"/>
          </a:solidFill>
          <a:ln/>
        </p:spPr>
      </p:sp>
      <p:sp>
        <p:nvSpPr>
          <p:cNvPr id="14" name="Shape 11"/>
          <p:cNvSpPr/>
          <p:nvPr/>
        </p:nvSpPr>
        <p:spPr>
          <a:xfrm>
            <a:off x="7178040" y="315468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B7791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154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31272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Suite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35112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viewed as too generic for clinical leads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Health Systems  |  Customer Success Plan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TSIA COMPONENT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&amp;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00200" y="3017520"/>
            <a:ext cx="9006840" cy="0"/>
          </a:xfrm>
          <a:prstGeom prst="line">
            <a:avLst/>
          </a:prstGeom>
          <a:noFill/>
          <a:ln w="38100">
            <a:solidFill>
              <a:srgbClr val="D7D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2184" y="2889504"/>
            <a:ext cx="256032" cy="256032"/>
          </a:xfrm>
          <a:prstGeom prst="ellipse">
            <a:avLst/>
          </a:prstGeom>
          <a:solidFill>
            <a:srgbClr val="1E8A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560320"/>
            <a:ext cx="0" cy="329184"/>
          </a:xfrm>
          <a:prstGeom prst="line">
            <a:avLst/>
          </a:prstGeom>
          <a:noFill/>
          <a:ln w="19050">
            <a:solidFill>
              <a:srgbClr val="D7DCE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go-live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1,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74464" y="2889504"/>
            <a:ext cx="256032" cy="256032"/>
          </a:xfrm>
          <a:prstGeom prst="ellipse">
            <a:avLst/>
          </a:prstGeom>
          <a:solidFill>
            <a:srgbClr val="B779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2480" y="3145536"/>
            <a:ext cx="0" cy="182880"/>
          </a:xfrm>
          <a:prstGeom prst="line">
            <a:avLst/>
          </a:prstGeom>
          <a:noFill/>
          <a:ln w="19050">
            <a:solidFill>
              <a:srgbClr val="D7DCE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550920" y="333756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8808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68808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intake rollout to all clinics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8808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15, 2026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76744" y="2889504"/>
            <a:ext cx="256032" cy="256032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04760" y="2560320"/>
            <a:ext cx="0" cy="329184"/>
          </a:xfrm>
          <a:prstGeom prst="line">
            <a:avLst/>
          </a:prstGeom>
          <a:noFill/>
          <a:ln w="19050">
            <a:solidFill>
              <a:srgbClr val="D7DCE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553200" y="128016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036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REALIZATION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69036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onboarding-time reduction validated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69036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15, 2027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479024" y="2889504"/>
            <a:ext cx="256032" cy="256032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0" y="3145536"/>
            <a:ext cx="0" cy="182880"/>
          </a:xfrm>
          <a:prstGeom prst="line">
            <a:avLst/>
          </a:prstGeom>
          <a:noFill/>
          <a:ln w="19050">
            <a:solidFill>
              <a:srgbClr val="D7DCE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555480" y="333756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9264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review &amp; renewal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30, 2027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6172200"/>
            <a:ext cx="164592" cy="164592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6108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6172200"/>
            <a:ext cx="164592" cy="16459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246120" y="6108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/ Scheduled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6172200"/>
            <a:ext cx="164592" cy="16459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715000" y="6108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6172200"/>
            <a:ext cx="164592" cy="164592"/>
          </a:xfrm>
          <a:prstGeom prst="ellipse">
            <a:avLst/>
          </a:prstGeom>
          <a:solidFill>
            <a:srgbClr val="B4312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183880" y="6108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Health Systems  |  Customer Success Plan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TSIA COMPONENT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usage of the platform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clinical users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900 users target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547872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E2E6F0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547872"/>
            <a:ext cx="2207362" cy="201168"/>
          </a:xfrm>
          <a:prstGeom prst="roundRect">
            <a:avLst>
              <a:gd name="adj" fmla="val 13636"/>
            </a:avLst>
          </a:prstGeom>
          <a:solidFill>
            <a:srgbClr val="B779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target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15087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first value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Time-to-first-value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30 days target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547872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E2E6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3547872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1E8A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091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target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21040" y="15087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tied to ROI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onboarding time reduction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30 % reduction target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95360" y="3547872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E2E6F0"/>
          </a:solidFill>
          <a:ln/>
        </p:spPr>
      </p:sp>
      <p:sp>
        <p:nvSpPr>
          <p:cNvPr id="29" name="Shape 27"/>
          <p:cNvSpPr/>
          <p:nvPr/>
        </p:nvSpPr>
        <p:spPr>
          <a:xfrm>
            <a:off x="8595360" y="3547872"/>
            <a:ext cx="1461211" cy="201168"/>
          </a:xfrm>
          <a:prstGeom prst="roundRect">
            <a:avLst>
              <a:gd name="adj" fmla="val 13636"/>
            </a:avLst>
          </a:prstGeom>
          <a:solidFill>
            <a:srgbClr val="B4312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953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target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definitions follow TSIA guidance: adoption (active users / feature usage), onboarding (time-to-value, activation), and business impact (ROI, outcomes).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Health Systems  |  Customer Success Plan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TSIA COMPONENT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&amp; Responsibilities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Owns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clinic-specific adoption enablement session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Oct 1,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267004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B779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273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 report views for clinical leads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Oct 20,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374904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B779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80560" y="3749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141732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4450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1417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Owns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210312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2194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clinic champions for intake rollout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Sep 25,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241280" y="267004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B7791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4128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Health Systems  |  Customer Success Plan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TSIA COMPONENT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1371600"/>
                <a:gridCol w="41148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suite seen as low-value by clinical leadership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custom clinical-lead views; demo in next EBR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Health Systems  |  Customer Success Plan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plan on track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5786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clinic-specific adoption enablement session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803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 •  Due Oct 1,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3558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clinic champions for intake rollout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6576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•  Due Sep 25,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133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 report views for clinical leads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4348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 •  Due Oct 20, 2026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M. McGowan  •  September 11,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2026-09-11T15:07:41Z</dcterms:created>
  <dcterms:modified xsi:type="dcterms:W3CDTF">2026-09-11T15:07:41Z</dcterms:modified>
</cp:coreProperties>
</file>