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Adoption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222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Exception Alerts</c:v>
                  </c:pt>
                  <c:pt idx="1">
                    <c:v>Core Tracking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</c:v>
                </c:pt>
                <c:pt idx="1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222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12700" cap="flat">
              <a:solidFill>
                <a:srgbClr val="E9EC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Adoption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B49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-2011680"/>
            <a:ext cx="5486400" cy="54864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3291840"/>
            <a:ext cx="3657600" cy="3657600"/>
          </a:xfrm>
          <a:prstGeom prst="ellipse">
            <a:avLst/>
          </a:prstGeom>
          <a:solidFill>
            <a:srgbClr val="CADCFC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SUCCESS PLAN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Brightline Logistics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37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 •  Mid-Market Segment  •  CSM: M. McGowan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4297680"/>
            <a:ext cx="3017520" cy="1188720"/>
          </a:xfrm>
          <a:prstGeom prst="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4434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$64,000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983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069080" y="4297680"/>
            <a:ext cx="3017520" cy="1188720"/>
          </a:xfrm>
          <a:prstGeom prst="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51960" y="4434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 / 100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4983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SCORE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00" y="4297680"/>
            <a:ext cx="3017520" cy="1188720"/>
          </a:xfrm>
          <a:prstGeom prst="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0" y="4434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 30, 2026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4983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DATE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September 11,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011680" cy="2011680"/>
          </a:xfrm>
          <a:prstGeom prst="ellipse">
            <a:avLst/>
          </a:prstGeom>
          <a:solidFill>
            <a:srgbClr val="F5F7FC"/>
          </a:solidFill>
          <a:ln w="762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9659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SCORE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463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Business Goals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82880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freight exception-handling time in half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589520" y="14630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Key Milestone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589520" y="1828800"/>
            <a:ext cx="3931920" cy="123444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0" y="193852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thresholds retuned per lane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0" y="2514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Oct 1, 2026  •  At Risk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411480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279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572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 / 90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138928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alerts actioned within SLA (%)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343400" y="411480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0" y="4279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38160" y="411480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66760" y="4279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66760" y="4572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/ 50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8366760" y="5138928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Exception-handling time reduction (% reduction)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Brightline Logistics  |  Customer Success Plan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8988552" y="6492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TSIA COMPONENT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Profile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Stakeholders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828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Baxter  —  COO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0756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Buyer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74920" y="1883664"/>
            <a:ext cx="1097280" cy="329184"/>
          </a:xfrm>
          <a:prstGeom prst="roundRect">
            <a:avLst>
              <a:gd name="adj" fmla="val 16667"/>
            </a:avLst>
          </a:prstGeom>
          <a:solidFill>
            <a:srgbClr val="B431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74920" y="188366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Risk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6974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Ellen Cho  —  Ops Manager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9443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Day-to-Day Contact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74920" y="2752344"/>
            <a:ext cx="1097280" cy="329184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74920" y="275234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675120" y="1417320"/>
            <a:ext cx="18288" cy="4709160"/>
          </a:xfrm>
          <a:prstGeom prst="rect">
            <a:avLst/>
          </a:prstGeom>
          <a:solidFill>
            <a:srgbClr val="E2E6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40880" y="14173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Use Cases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178308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shipment exception alerts  (High priority)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040880" y="3566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Goals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40880" y="393192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freight exception-handling time in half  (High priority)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Brightline Logistics  |  Customer Success Plan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988552" y="6492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TSIA COMPONENT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State Assessment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Adoption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675120" y="1417320"/>
            <a:ext cx="18288" cy="4709160"/>
          </a:xfrm>
          <a:prstGeom prst="rect">
            <a:avLst/>
          </a:prstGeom>
          <a:solidFill>
            <a:srgbClr val="E2E6F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040880" y="14173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Challenges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040880" y="1828800"/>
            <a:ext cx="4480560" cy="1051560"/>
          </a:xfrm>
          <a:prstGeom prst="roundRect">
            <a:avLst>
              <a:gd name="adj" fmla="val 5217"/>
            </a:avLst>
          </a:prstGeom>
          <a:solidFill>
            <a:srgbClr val="F5F7FC"/>
          </a:solidFill>
          <a:ln/>
        </p:spPr>
      </p:sp>
      <p:sp>
        <p:nvSpPr>
          <p:cNvPr id="9" name="Shape 6"/>
          <p:cNvSpPr/>
          <p:nvPr/>
        </p:nvSpPr>
        <p:spPr>
          <a:xfrm>
            <a:off x="7178040" y="1947672"/>
            <a:ext cx="822960" cy="292608"/>
          </a:xfrm>
          <a:prstGeom prst="roundRect">
            <a:avLst>
              <a:gd name="adj" fmla="val 15625"/>
            </a:avLst>
          </a:prstGeom>
          <a:solidFill>
            <a:srgbClr val="B4312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178040" y="19476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1920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Alerts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230428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fatigue; thresholds not tuned per lane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Brightline Logistics  |  Customer Success Plan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8988552" y="6492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TSIA COMPONENT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Milestones &amp; Timeline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600200" y="3017520"/>
            <a:ext cx="9006840" cy="0"/>
          </a:xfrm>
          <a:prstGeom prst="line">
            <a:avLst/>
          </a:prstGeom>
          <a:noFill/>
          <a:ln w="38100">
            <a:solidFill>
              <a:srgbClr val="D7DC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72184" y="2889504"/>
            <a:ext cx="256032" cy="256032"/>
          </a:xfrm>
          <a:prstGeom prst="ellipse">
            <a:avLst/>
          </a:prstGeom>
          <a:solidFill>
            <a:srgbClr val="1E8A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00200" y="2560320"/>
            <a:ext cx="0" cy="329184"/>
          </a:xfrm>
          <a:prstGeom prst="line">
            <a:avLst/>
          </a:prstGeom>
          <a:noFill/>
          <a:ln w="19050">
            <a:solidFill>
              <a:srgbClr val="D7DCEC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548640" y="1280160"/>
            <a:ext cx="2103120" cy="1234440"/>
          </a:xfrm>
          <a:prstGeom prst="roundRect">
            <a:avLst>
              <a:gd name="adj" fmla="val 4444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371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600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alerting configured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148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8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1, 2025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75604" y="2889504"/>
            <a:ext cx="256032" cy="256032"/>
          </a:xfrm>
          <a:prstGeom prst="ellipse">
            <a:avLst/>
          </a:prstGeom>
          <a:solidFill>
            <a:srgbClr val="B4312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03620" y="3145536"/>
            <a:ext cx="0" cy="182880"/>
          </a:xfrm>
          <a:prstGeom prst="line">
            <a:avLst/>
          </a:prstGeom>
          <a:noFill/>
          <a:ln w="19050">
            <a:solidFill>
              <a:srgbClr val="D7DCEC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5052060" y="3337560"/>
            <a:ext cx="2103120" cy="1234440"/>
          </a:xfrm>
          <a:prstGeom prst="roundRect">
            <a:avLst>
              <a:gd name="adj" fmla="val 4444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89220" y="3429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189220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thresholds retuned per lane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89220" y="4206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4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1, 2026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0479024" y="2889504"/>
            <a:ext cx="256032" cy="256032"/>
          </a:xfrm>
          <a:prstGeom prst="ellipse">
            <a:avLst/>
          </a:prstGeom>
          <a:solidFill>
            <a:srgbClr val="6B728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607040" y="2560320"/>
            <a:ext cx="0" cy="329184"/>
          </a:xfrm>
          <a:prstGeom prst="line">
            <a:avLst/>
          </a:prstGeom>
          <a:noFill/>
          <a:ln w="19050">
            <a:solidFill>
              <a:srgbClr val="D7DCEC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9555480" y="1280160"/>
            <a:ext cx="2103120" cy="1234440"/>
          </a:xfrm>
          <a:prstGeom prst="roundRect">
            <a:avLst>
              <a:gd name="adj" fmla="val 4444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92640" y="1371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0" y="1600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decision checkpoint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2148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15, 2026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6172200"/>
            <a:ext cx="164592" cy="164592"/>
          </a:xfrm>
          <a:prstGeom prst="ellipse">
            <a:avLst/>
          </a:prstGeom>
          <a:solidFill>
            <a:srgbClr val="1E8A5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77240" y="6108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17520" y="6172200"/>
            <a:ext cx="164592" cy="164592"/>
          </a:xfrm>
          <a:prstGeom prst="ellipse">
            <a:avLst/>
          </a:prstGeom>
          <a:solidFill>
            <a:srgbClr val="B7791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6120" y="6108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/ Scheduled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0" y="6172200"/>
            <a:ext cx="164592" cy="164592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715000" y="6108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Started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55280" y="6172200"/>
            <a:ext cx="164592" cy="164592"/>
          </a:xfrm>
          <a:prstGeom prst="ellipse">
            <a:avLst/>
          </a:prstGeom>
          <a:solidFill>
            <a:srgbClr val="B431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83880" y="6108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Risk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Brightline Logistics  |  Customer Success Plan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988552" y="6492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TSIA COMPONENT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Metrics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657600" cy="2743200"/>
          </a:xfrm>
          <a:prstGeom prst="roundRect">
            <a:avLst>
              <a:gd name="adj" fmla="val 2667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116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usage of the platform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alerts actioned within SLA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060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821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90 % target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3547872"/>
            <a:ext cx="3108960" cy="201168"/>
          </a:xfrm>
          <a:prstGeom prst="roundRect">
            <a:avLst>
              <a:gd name="adj" fmla="val 13636"/>
            </a:avLst>
          </a:prstGeom>
          <a:solidFill>
            <a:srgbClr val="E2E6F0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3547872"/>
            <a:ext cx="1989734" cy="201168"/>
          </a:xfrm>
          <a:prstGeom prst="roundRect">
            <a:avLst>
              <a:gd name="adj" fmla="val 13636"/>
            </a:avLst>
          </a:prstGeom>
          <a:solidFill>
            <a:srgbClr val="B7791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794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64% of target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434840" y="1508760"/>
            <a:ext cx="3657600" cy="2743200"/>
          </a:xfrm>
          <a:prstGeom prst="roundRect">
            <a:avLst>
              <a:gd name="adj" fmla="val 2667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09160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709160" y="20116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to first value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321040" y="1508760"/>
            <a:ext cx="3657600" cy="2743200"/>
          </a:xfrm>
          <a:prstGeom prst="roundRect">
            <a:avLst>
              <a:gd name="adj" fmla="val 2667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95360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595360" y="20116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tied to ROI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595360" y="2286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Exception-handling time reduction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26060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400" dirty="0"/>
          </a:p>
        </p:txBody>
      </p:sp>
      <p:sp>
        <p:nvSpPr>
          <p:cNvPr id="21" name="Text 19"/>
          <p:cNvSpPr txBox="1"/>
          <p:nvPr/>
        </p:nvSpPr>
        <p:spPr>
          <a:xfrm>
            <a:off x="8595360" y="31821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50 % reduction target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595360" y="3547872"/>
            <a:ext cx="3108960" cy="201168"/>
          </a:xfrm>
          <a:prstGeom prst="roundRect">
            <a:avLst>
              <a:gd name="adj" fmla="val 13636"/>
            </a:avLst>
          </a:prstGeom>
          <a:solidFill>
            <a:srgbClr val="E2E6F0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3547872"/>
            <a:ext cx="746150" cy="201168"/>
          </a:xfrm>
          <a:prstGeom prst="roundRect">
            <a:avLst>
              <a:gd name="adj" fmla="val 13636"/>
            </a:avLst>
          </a:prstGeom>
          <a:solidFill>
            <a:srgbClr val="B431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95360" y="3794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target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526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definitions follow TSIA guidance: adoption (active users / feature usage), onboarding (time-to-value, activation), and business impact (ROI, outcomes).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Brightline Logistics  |  Customer Success Plan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988552" y="6492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TSIA COMPONENT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Actions &amp; Responsibilities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03520" cy="502920"/>
          </a:xfrm>
          <a:prstGeom prst="roundRect">
            <a:avLst>
              <a:gd name="adj" fmla="val 1090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Team Owns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303520" cy="914400"/>
          </a:xfrm>
          <a:prstGeom prst="roundRect">
            <a:avLst>
              <a:gd name="adj" fmla="val 6000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1945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Re-tune exception alert thresholds per lane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Sep 30, 2026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80560" y="2670048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B779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80560" y="26700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309360" y="1417320"/>
            <a:ext cx="5303520" cy="502920"/>
          </a:xfrm>
          <a:prstGeom prst="roundRect">
            <a:avLst>
              <a:gd name="adj" fmla="val 10909"/>
            </a:avLst>
          </a:prstGeom>
          <a:solidFill>
            <a:srgbClr val="44506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09360" y="14173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Owns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2103120"/>
            <a:ext cx="5303520" cy="914400"/>
          </a:xfrm>
          <a:prstGeom prst="roundRect">
            <a:avLst>
              <a:gd name="adj" fmla="val 6000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37960" y="21945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lane-level SLA targets with ops leadership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Sep 22, 2026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0241280" y="2670048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B7791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241280" y="26700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Brightline Logistics  |  Customer Success Plan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988552" y="6492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TSIA COMPONENT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Management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1371600"/>
                <a:gridCol w="411480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Likelihood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alert adoption driving renewal hesitation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431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431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Retune thresholds, weekly check-ins through renewal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buyer sentiment at 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431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431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Executive-to-executive call before renewal checkpoint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Brightline Logistics  |  Customer Success Plan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8988552" y="6492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5544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Keeping the plan on track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56032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57860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Re-tune exception alert thresholds per lane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8036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Team  •  Due Sep 30, 2026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333756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558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lane-level SLA targets with ops leadership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6576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 •  Due Sep 22, 2026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M. McGowan  •  September 11,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2026-09-11T15:08:14Z</dcterms:created>
  <dcterms:modified xsi:type="dcterms:W3CDTF">2026-09-11T15:08:14Z</dcterms:modified>
</cp:coreProperties>
</file>