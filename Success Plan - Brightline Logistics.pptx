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Exception Alerts</c:v>
                  </c:pt>
                  <c:pt idx="1">
                    <c:v>Core Tracking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9EC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Adoption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PLAN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Brightline Logistics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 •  Mid-Market Segment  •  CSM: M. McGowan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301752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$64,000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69080" y="4297680"/>
            <a:ext cx="301752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5196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/ 100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0" y="4297680"/>
            <a:ext cx="301752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30, 2026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DATE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September 11,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11680" cy="2011680"/>
          </a:xfrm>
          <a:prstGeom prst="ellipse">
            <a:avLst/>
          </a:prstGeom>
          <a:solidFill>
            <a:srgbClr val="F5F7FC"/>
          </a:solidFill>
          <a:ln w="762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Business Goals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8288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freight exception-handling time in half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Key Milestone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1828800"/>
            <a:ext cx="3931920" cy="123444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19385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thresholds retuned per lane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Oct 1, 2026  •  At Risk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50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1389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Exception-handling time reduction (% reduction)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41148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$38,000 / $120,000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51389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exception cost avoided (per year)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38160" y="41148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SIMPLIFIED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/ 150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51389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exception reviews eliminated (reviews/week)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Brightline Logistics  |  Customer Success Plan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Profile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Baxter  —  COO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75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74920" y="1883664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B431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74920" y="18836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 Cho  —  Ops Manager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44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Contact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2752344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74920" y="2752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417320"/>
            <a:ext cx="18288" cy="4709160"/>
          </a:xfrm>
          <a:prstGeom prst="rect">
            <a:avLst/>
          </a:prstGeom>
          <a:solidFill>
            <a:srgbClr val="E2E6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0" y="1417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178308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shipment exception alerts  (High priority)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93192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freight exception-handling time in half  (High priority)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Brightline Logistics  |  Customer Success Plan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Assessment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Adoption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760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417320"/>
            <a:ext cx="18288" cy="4709160"/>
          </a:xfrm>
          <a:prstGeom prst="rect">
            <a:avLst/>
          </a:prstGeom>
          <a:solidFill>
            <a:srgbClr val="E2E6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040880" y="1417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Challenges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40880" y="1828800"/>
            <a:ext cx="4480560" cy="1051560"/>
          </a:xfrm>
          <a:prstGeom prst="roundRect">
            <a:avLst>
              <a:gd name="adj" fmla="val 5217"/>
            </a:avLst>
          </a:prstGeom>
          <a:solidFill>
            <a:srgbClr val="F5F7FC"/>
          </a:solidFill>
          <a:ln/>
        </p:spPr>
      </p:sp>
      <p:sp>
        <p:nvSpPr>
          <p:cNvPr id="9" name="Shape 6"/>
          <p:cNvSpPr/>
          <p:nvPr/>
        </p:nvSpPr>
        <p:spPr>
          <a:xfrm>
            <a:off x="7178040" y="1947672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B4312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78040" y="19476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Alerts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23042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fatigue; thresholds not tuned per lane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Brightline Logistics  |  Customer Success Plan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&amp;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00200" y="3017520"/>
            <a:ext cx="9006840" cy="0"/>
          </a:xfrm>
          <a:prstGeom prst="line">
            <a:avLst/>
          </a:prstGeom>
          <a:noFill/>
          <a:ln w="38100">
            <a:solidFill>
              <a:srgbClr val="D7D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2184" y="2889504"/>
            <a:ext cx="256032" cy="256032"/>
          </a:xfrm>
          <a:prstGeom prst="ellipse">
            <a:avLst/>
          </a:prstGeom>
          <a:solidFill>
            <a:srgbClr val="1E8A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560320"/>
            <a:ext cx="0" cy="329184"/>
          </a:xfrm>
          <a:prstGeom prst="line">
            <a:avLst/>
          </a:prstGeom>
          <a:noFill/>
          <a:ln w="19050">
            <a:solidFill>
              <a:srgbClr val="D7DCE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alerting configured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1,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75604" y="2889504"/>
            <a:ext cx="256032" cy="256032"/>
          </a:xfrm>
          <a:prstGeom prst="ellipse">
            <a:avLst/>
          </a:prstGeom>
          <a:solidFill>
            <a:srgbClr val="B431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03620" y="3145536"/>
            <a:ext cx="0" cy="182880"/>
          </a:xfrm>
          <a:prstGeom prst="line">
            <a:avLst/>
          </a:prstGeom>
          <a:noFill/>
          <a:ln w="19050">
            <a:solidFill>
              <a:srgbClr val="D7DCE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052060" y="333756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8922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8922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thresholds retuned per lane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18922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1, 2026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479024" y="2889504"/>
            <a:ext cx="256032" cy="256032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0" y="2560320"/>
            <a:ext cx="0" cy="329184"/>
          </a:xfrm>
          <a:prstGeom prst="line">
            <a:avLst/>
          </a:prstGeom>
          <a:noFill/>
          <a:ln w="19050">
            <a:solidFill>
              <a:srgbClr val="D7DCE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555480" y="128016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decision checkpoint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15, 2026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6172200"/>
            <a:ext cx="164592" cy="164592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6108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6172200"/>
            <a:ext cx="164592" cy="16459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46120" y="6108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/ Scheduled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6172200"/>
            <a:ext cx="164592" cy="16459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715000" y="6108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6172200"/>
            <a:ext cx="164592" cy="164592"/>
          </a:xfrm>
          <a:prstGeom prst="ellipse">
            <a:avLst/>
          </a:prstGeom>
          <a:solidFill>
            <a:srgbClr val="B4312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83880" y="6108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Brightline Logistics  |  Customer Success Plan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398520" cy="274320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284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284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or cycle time given back to the customer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84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Exception-handling time reduction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2849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82112"/>
            <a:ext cx="284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50 % reduction target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547872"/>
            <a:ext cx="2849880" cy="201168"/>
          </a:xfrm>
          <a:prstGeom prst="roundRect">
            <a:avLst>
              <a:gd name="adj" fmla="val 13636"/>
            </a:avLst>
          </a:prstGeom>
          <a:solidFill>
            <a:srgbClr val="E2E6F0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547872"/>
            <a:ext cx="683971" cy="201168"/>
          </a:xfrm>
          <a:prstGeom prst="roundRect">
            <a:avLst>
              <a:gd name="adj" fmla="val 13636"/>
            </a:avLst>
          </a:prstGeom>
          <a:solidFill>
            <a:srgbClr val="B431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794760"/>
            <a:ext cx="284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of target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75760" y="1508760"/>
            <a:ext cx="3398520" cy="274320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50080" y="1737360"/>
            <a:ext cx="284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50080" y="2011680"/>
            <a:ext cx="284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avoided or reduced for the customer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450080" y="2286000"/>
            <a:ext cx="284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exception cost avoided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50080" y="2606040"/>
            <a:ext cx="2849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$38,000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450080" y="3182112"/>
            <a:ext cx="284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$120,000 per year target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50080" y="3547872"/>
            <a:ext cx="2849880" cy="201168"/>
          </a:xfrm>
          <a:prstGeom prst="roundRect">
            <a:avLst>
              <a:gd name="adj" fmla="val 13636"/>
            </a:avLst>
          </a:prstGeom>
          <a:solidFill>
            <a:srgbClr val="E2E6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0080" y="3547872"/>
            <a:ext cx="911962" cy="201168"/>
          </a:xfrm>
          <a:prstGeom prst="roundRect">
            <a:avLst>
              <a:gd name="adj" fmla="val 13636"/>
            </a:avLst>
          </a:prstGeom>
          <a:solidFill>
            <a:srgbClr val="B431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50080" y="3794760"/>
            <a:ext cx="284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of target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02880" y="1508760"/>
            <a:ext cx="3398520" cy="274320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77200" y="1737360"/>
            <a:ext cx="284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SIMPLIFIED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77200" y="2011680"/>
            <a:ext cx="284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tools, or manual work removed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77200" y="2286000"/>
            <a:ext cx="284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exception reviews eliminated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077200" y="2606040"/>
            <a:ext cx="2849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8077200" y="3182112"/>
            <a:ext cx="284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150 reviews/week target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77200" y="3547872"/>
            <a:ext cx="2849880" cy="201168"/>
          </a:xfrm>
          <a:prstGeom prst="roundRect">
            <a:avLst>
              <a:gd name="adj" fmla="val 13636"/>
            </a:avLst>
          </a:prstGeom>
          <a:solidFill>
            <a:srgbClr val="E2E6F0"/>
          </a:solidFill>
          <a:ln/>
        </p:spPr>
      </p:sp>
      <p:sp>
        <p:nvSpPr>
          <p:cNvPr id="29" name="Shape 27"/>
          <p:cNvSpPr/>
          <p:nvPr/>
        </p:nvSpPr>
        <p:spPr>
          <a:xfrm>
            <a:off x="8077200" y="3547872"/>
            <a:ext cx="769468" cy="201168"/>
          </a:xfrm>
          <a:prstGeom prst="roundRect">
            <a:avLst>
              <a:gd name="adj" fmla="val 13636"/>
            </a:avLst>
          </a:prstGeom>
          <a:solidFill>
            <a:srgbClr val="B4312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77200" y="3794760"/>
            <a:ext cx="284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target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are tracked in the terms that matter to the customer: time saved, cost avoided, revenue enabled, or complexity removed from their operations.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Brightline Logistics  |  Customer Success Plan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&amp;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Owns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Re-tune exception alert thresholds per lane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Sep 30,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267004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B779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4450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417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Owns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2194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lane-level SLA targets with ops leadership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Sep 22,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41280" y="267004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B779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4128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Brightline Logistics  |  Customer Success Plan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1371600"/>
                <a:gridCol w="41148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alert adoption driving renewal hesitation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Retune thresholds, weekly check-ins through renewal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buyer sentiment at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3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Executive-to-executive call before renewal checkpoint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Brightline Logistics  |  Customer Success Plan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plan on track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5786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Re-tune exception alert thresholds per lane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 •  Due Sep 30,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3558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lane-level SLA targets with ops leadership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6576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•  Due Sep 22, 2026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M. McGowan  •  September 11,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2026-09-11T16:23:18Z</dcterms:created>
  <dcterms:modified xsi:type="dcterms:W3CDTF">2026-09-11T16:23:18Z</dcterms:modified>
</cp:coreProperties>
</file>